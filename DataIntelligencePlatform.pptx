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png"/><Relationship Id="rId12" Type="http://schemas.openxmlformats.org/officeDocument/2006/relationships/image" Target="../media/image-1-12.svg"/><Relationship Id="rId13" Type="http://schemas.openxmlformats.org/officeDocument/2006/relationships/image" Target="../media/image-1-13.png"/><Relationship Id="rId14" Type="http://schemas.openxmlformats.org/officeDocument/2006/relationships/image" Target="../media/image-1-14.svg"/><Relationship Id="rId15" Type="http://schemas.openxmlformats.org/officeDocument/2006/relationships/image" Target="../media/image-1-15.png"/><Relationship Id="rId16" Type="http://schemas.openxmlformats.org/officeDocument/2006/relationships/image" Target="../media/image-1-16.svg"/><Relationship Id="rId17" Type="http://schemas.openxmlformats.org/officeDocument/2006/relationships/image" Target="../media/image-1-17.png"/><Relationship Id="rId18" Type="http://schemas.openxmlformats.org/officeDocument/2006/relationships/image" Target="../media/image-1-18.sv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svg"/><Relationship Id="rId23" Type="http://schemas.openxmlformats.org/officeDocument/2006/relationships/image" Target="../media/image-1-23.png"/><Relationship Id="rId24" Type="http://schemas.openxmlformats.org/officeDocument/2006/relationships/image" Target="../media/image-1-24.svg"/><Relationship Id="rId25" Type="http://schemas.openxmlformats.org/officeDocument/2006/relationships/image" Target="../media/image-1-25.png"/><Relationship Id="rId26" Type="http://schemas.openxmlformats.org/officeDocument/2006/relationships/image" Target="../media/image-1-26.sv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svg"/><Relationship Id="rId30" Type="http://schemas.openxmlformats.org/officeDocument/2006/relationships/image" Target="../media/image-1-30.png"/><Relationship Id="rId31" Type="http://schemas.openxmlformats.org/officeDocument/2006/relationships/image" Target="../media/image-1-31.svg"/><Relationship Id="rId32" Type="http://schemas.openxmlformats.org/officeDocument/2006/relationships/image" Target="../media/image-1-32.png"/><Relationship Id="rId33" Type="http://schemas.openxmlformats.org/officeDocument/2006/relationships/image" Target="../media/image-1-33.svg"/><Relationship Id="rId34" Type="http://schemas.openxmlformats.org/officeDocument/2006/relationships/image" Target="../media/image-1-34.png"/><Relationship Id="rId35" Type="http://schemas.openxmlformats.org/officeDocument/2006/relationships/image" Target="../media/image-1-35.svg"/><Relationship Id="rId36" Type="http://schemas.openxmlformats.org/officeDocument/2006/relationships/image" Target="../media/image-1-36.png"/><Relationship Id="rId37" Type="http://schemas.openxmlformats.org/officeDocument/2006/relationships/image" Target="../media/image-1-37.sv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41.png"/><Relationship Id="rId42" Type="http://schemas.openxmlformats.org/officeDocument/2006/relationships/image" Target="../media/image-1-42.png"/><Relationship Id="rId43" Type="http://schemas.openxmlformats.org/officeDocument/2006/relationships/image" Target="../media/image-1-43.png"/><Relationship Id="rId44" Type="http://schemas.openxmlformats.org/officeDocument/2006/relationships/image" Target="../media/image-1-44.png"/><Relationship Id="rId45" Type="http://schemas.openxmlformats.org/officeDocument/2006/relationships/image" Target="../media/image-1-45.svg"/><Relationship Id="rId46" Type="http://schemas.openxmlformats.org/officeDocument/2006/relationships/slideLayout" Target="../slideLayouts/slideLayout1.xml"/><Relationship Id="rId4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73152"/>
            <a:ext cx="1188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35B1"/>
                </a:solidFill>
              </a:rPr>
              <a:t>Data Intelligence Platform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" y="438912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" y="43891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Message Store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73152" y="667512"/>
            <a:ext cx="1920240" cy="886968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362" y="749808"/>
            <a:ext cx="388620" cy="36576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42" y="749808"/>
            <a:ext cx="481460" cy="365760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9992" y="749808"/>
            <a:ext cx="365760" cy="365760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096" y="1170432"/>
            <a:ext cx="73152" cy="365760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654" y="1170432"/>
            <a:ext cx="517236" cy="365760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59992" y="1170432"/>
            <a:ext cx="365760" cy="365760"/>
          </a:xfrm>
          <a:prstGeom prst="rect">
            <a:avLst/>
          </a:prstGeom>
        </p:spPr>
      </p:pic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0792" y="1591056"/>
            <a:ext cx="365760" cy="36576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73152" y="1609344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4" name="Text 5"/>
          <p:cNvSpPr/>
          <p:nvPr/>
        </p:nvSpPr>
        <p:spPr>
          <a:xfrm>
            <a:off x="73152" y="1609344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Legacy Databases</a:t>
            </a:r>
            <a:endParaRPr lang="en-US" sz="750" dirty="0"/>
          </a:p>
        </p:txBody>
      </p:sp>
      <p:sp>
        <p:nvSpPr>
          <p:cNvPr id="15" name="Shape 6"/>
          <p:cNvSpPr/>
          <p:nvPr/>
        </p:nvSpPr>
        <p:spPr>
          <a:xfrm>
            <a:off x="73152" y="1837944"/>
            <a:ext cx="1920240" cy="758952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40792" y="1920240"/>
            <a:ext cx="365760" cy="365760"/>
          </a:xfrm>
          <a:prstGeom prst="rect">
            <a:avLst/>
          </a:prstGeom>
        </p:spPr>
      </p:pic>
      <p:pic>
        <p:nvPicPr>
          <p:cNvPr id="17" name="Image 8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50392" y="1920240"/>
            <a:ext cx="365760" cy="36576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338072" y="1892808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IBM DB2</a:t>
            </a:r>
            <a:endParaRPr lang="en-US" sz="580" dirty="0"/>
          </a:p>
        </p:txBody>
      </p:sp>
      <p:pic>
        <p:nvPicPr>
          <p:cNvPr id="19" name="Image 9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40792" y="2340864"/>
            <a:ext cx="365760" cy="365760"/>
          </a:xfrm>
          <a:prstGeom prst="rect">
            <a:avLst/>
          </a:prstGeom>
        </p:spPr>
      </p:pic>
      <p:pic>
        <p:nvPicPr>
          <p:cNvPr id="20" name="Image 10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5904" y="2448985"/>
            <a:ext cx="554736" cy="149519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1338072" y="2313432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Oracle DB</a:t>
            </a:r>
            <a:endParaRPr lang="en-US" sz="580" dirty="0"/>
          </a:p>
        </p:txBody>
      </p:sp>
      <p:sp>
        <p:nvSpPr>
          <p:cNvPr id="22" name="Shape 9"/>
          <p:cNvSpPr/>
          <p:nvPr/>
        </p:nvSpPr>
        <p:spPr>
          <a:xfrm>
            <a:off x="73152" y="2651760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23" name="Text 10"/>
          <p:cNvSpPr/>
          <p:nvPr/>
        </p:nvSpPr>
        <p:spPr>
          <a:xfrm>
            <a:off x="73152" y="265176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Cloud Databases</a:t>
            </a:r>
            <a:endParaRPr lang="en-US" sz="750" dirty="0"/>
          </a:p>
        </p:txBody>
      </p:sp>
      <p:sp>
        <p:nvSpPr>
          <p:cNvPr id="24" name="Shape 11"/>
          <p:cNvSpPr/>
          <p:nvPr/>
        </p:nvSpPr>
        <p:spPr>
          <a:xfrm>
            <a:off x="73152" y="2880360"/>
            <a:ext cx="1920240" cy="594360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25" name="Text 12"/>
          <p:cNvSpPr/>
          <p:nvPr/>
        </p:nvSpPr>
        <p:spPr>
          <a:xfrm>
            <a:off x="118872" y="2935224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Azure SQL</a:t>
            </a:r>
            <a:endParaRPr lang="en-US" sz="580" dirty="0"/>
          </a:p>
        </p:txBody>
      </p:sp>
      <p:pic>
        <p:nvPicPr>
          <p:cNvPr id="26" name="Image 11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2720" y="2962656"/>
            <a:ext cx="461104" cy="365760"/>
          </a:xfrm>
          <a:prstGeom prst="rect">
            <a:avLst/>
          </a:prstGeom>
        </p:spPr>
      </p:pic>
      <p:pic>
        <p:nvPicPr>
          <p:cNvPr id="27" name="Image 12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459992" y="2962656"/>
            <a:ext cx="365760" cy="365760"/>
          </a:xfrm>
          <a:prstGeom prst="rect">
            <a:avLst/>
          </a:prstGeom>
        </p:spPr>
      </p:pic>
      <p:pic>
        <p:nvPicPr>
          <p:cNvPr id="28" name="Image 13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40792" y="3383280"/>
            <a:ext cx="365760" cy="365760"/>
          </a:xfrm>
          <a:prstGeom prst="rect">
            <a:avLst/>
          </a:prstGeom>
        </p:spPr>
      </p:pic>
      <p:pic>
        <p:nvPicPr>
          <p:cNvPr id="29" name="Image 14" descr="preencoded.png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96696" y="3383280"/>
            <a:ext cx="73152" cy="365760"/>
          </a:xfrm>
          <a:prstGeom prst="rect">
            <a:avLst/>
          </a:prstGeom>
        </p:spPr>
      </p:pic>
      <p:pic>
        <p:nvPicPr>
          <p:cNvPr id="30" name="Image 1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412320" y="3383280"/>
            <a:ext cx="461104" cy="365760"/>
          </a:xfrm>
          <a:prstGeom prst="rect">
            <a:avLst/>
          </a:prstGeom>
        </p:spPr>
      </p:pic>
      <p:sp>
        <p:nvSpPr>
          <p:cNvPr id="31" name="Shape 13"/>
          <p:cNvSpPr/>
          <p:nvPr/>
        </p:nvSpPr>
        <p:spPr>
          <a:xfrm>
            <a:off x="73152" y="3529584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32" name="Text 14"/>
          <p:cNvSpPr/>
          <p:nvPr/>
        </p:nvSpPr>
        <p:spPr>
          <a:xfrm>
            <a:off x="73152" y="3529584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Enterprise Applications</a:t>
            </a:r>
            <a:endParaRPr lang="en-US" sz="750" dirty="0"/>
          </a:p>
        </p:txBody>
      </p:sp>
      <p:sp>
        <p:nvSpPr>
          <p:cNvPr id="33" name="Shape 15"/>
          <p:cNvSpPr/>
          <p:nvPr/>
        </p:nvSpPr>
        <p:spPr>
          <a:xfrm>
            <a:off x="73152" y="3758184"/>
            <a:ext cx="1920240" cy="978408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pic>
        <p:nvPicPr>
          <p:cNvPr id="34" name="Image 16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40792" y="3840480"/>
            <a:ext cx="365760" cy="365760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28472" y="3813048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Workday</a:t>
            </a:r>
            <a:endParaRPr lang="en-US" sz="580" dirty="0"/>
          </a:p>
        </p:txBody>
      </p:sp>
      <p:pic>
        <p:nvPicPr>
          <p:cNvPr id="36" name="Image 17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459992" y="3840480"/>
            <a:ext cx="365760" cy="365760"/>
          </a:xfrm>
          <a:prstGeom prst="rect">
            <a:avLst/>
          </a:prstGeom>
        </p:spPr>
      </p:pic>
      <p:sp>
        <p:nvSpPr>
          <p:cNvPr id="37" name="Text 17"/>
          <p:cNvSpPr/>
          <p:nvPr/>
        </p:nvSpPr>
        <p:spPr>
          <a:xfrm>
            <a:off x="118872" y="4233672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Oracle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NetSuite</a:t>
            </a:r>
            <a:endParaRPr lang="en-US" sz="580" dirty="0"/>
          </a:p>
        </p:txBody>
      </p:sp>
      <p:sp>
        <p:nvSpPr>
          <p:cNvPr id="38" name="Text 18"/>
          <p:cNvSpPr/>
          <p:nvPr/>
        </p:nvSpPr>
        <p:spPr>
          <a:xfrm>
            <a:off x="728472" y="4233672"/>
            <a:ext cx="60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ServiceNow</a:t>
            </a:r>
            <a:endParaRPr lang="en-US" sz="580" dirty="0"/>
          </a:p>
        </p:txBody>
      </p:sp>
      <p:pic>
        <p:nvPicPr>
          <p:cNvPr id="39" name="Image 18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365504" y="4305300"/>
            <a:ext cx="554736" cy="277368"/>
          </a:xfrm>
          <a:prstGeom prst="rect">
            <a:avLst/>
          </a:prstGeom>
        </p:spPr>
      </p:pic>
      <p:pic>
        <p:nvPicPr>
          <p:cNvPr id="40" name="Image 19" descr="preencoded.png">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40792" y="4681728"/>
            <a:ext cx="365760" cy="365760"/>
          </a:xfrm>
          <a:prstGeom prst="rect">
            <a:avLst/>
          </a:prstGeom>
        </p:spPr>
      </p:pic>
      <p:pic>
        <p:nvPicPr>
          <p:cNvPr id="41" name="Image 20" descr="preencoded.png">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850392" y="4681728"/>
            <a:ext cx="365760" cy="365760"/>
          </a:xfrm>
          <a:prstGeom prst="rect">
            <a:avLst/>
          </a:prstGeom>
        </p:spPr>
      </p:pic>
      <p:sp>
        <p:nvSpPr>
          <p:cNvPr id="42" name="Shape 19"/>
          <p:cNvSpPr/>
          <p:nvPr/>
        </p:nvSpPr>
        <p:spPr>
          <a:xfrm>
            <a:off x="1993392" y="996696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3" name="Shape 20"/>
          <p:cNvSpPr/>
          <p:nvPr/>
        </p:nvSpPr>
        <p:spPr>
          <a:xfrm>
            <a:off x="1993392" y="2103120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4" name="Shape 21"/>
          <p:cNvSpPr/>
          <p:nvPr/>
        </p:nvSpPr>
        <p:spPr>
          <a:xfrm>
            <a:off x="1993392" y="3063240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5" name="Shape 22"/>
          <p:cNvSpPr/>
          <p:nvPr/>
        </p:nvSpPr>
        <p:spPr>
          <a:xfrm>
            <a:off x="1993392" y="4133088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6" name="Shape 23"/>
          <p:cNvSpPr/>
          <p:nvPr/>
        </p:nvSpPr>
        <p:spPr>
          <a:xfrm>
            <a:off x="2212848" y="438912"/>
            <a:ext cx="7699248" cy="4224528"/>
          </a:xfrm>
          <a:prstGeom prst="rect">
            <a:avLst/>
          </a:prstGeom>
          <a:solidFill>
            <a:srgbClr val="FAFAFE"/>
          </a:solidFill>
          <a:ln w="31750">
            <a:solidFill>
              <a:srgbClr val="5D35B1"/>
            </a:solidFill>
            <a:prstDash val="solid"/>
          </a:ln>
        </p:spPr>
      </p:sp>
      <p:sp>
        <p:nvSpPr>
          <p:cNvPr id="47" name="Shape 24"/>
          <p:cNvSpPr/>
          <p:nvPr/>
        </p:nvSpPr>
        <p:spPr>
          <a:xfrm>
            <a:off x="2212848" y="438912"/>
            <a:ext cx="7699248" cy="274320"/>
          </a:xfrm>
          <a:prstGeom prst="rect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pic>
        <p:nvPicPr>
          <p:cNvPr id="48" name="Image 21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304288" y="512031"/>
            <a:ext cx="548640" cy="12808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2898648" y="438912"/>
            <a:ext cx="6327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Intelligence Platform</a:t>
            </a:r>
            <a:endParaRPr lang="en-US" sz="1100" dirty="0"/>
          </a:p>
        </p:txBody>
      </p:sp>
      <p:pic>
        <p:nvPicPr>
          <p:cNvPr id="50" name="Image 22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272016" y="512031"/>
            <a:ext cx="548640" cy="128083"/>
          </a:xfrm>
          <a:prstGeom prst="rect">
            <a:avLst/>
          </a:prstGeom>
        </p:spPr>
      </p:pic>
      <p:sp>
        <p:nvSpPr>
          <p:cNvPr id="51" name="Shape 26"/>
          <p:cNvSpPr/>
          <p:nvPr/>
        </p:nvSpPr>
        <p:spPr>
          <a:xfrm>
            <a:off x="2286000" y="749808"/>
            <a:ext cx="7552944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52" name="Text 27"/>
          <p:cNvSpPr/>
          <p:nvPr/>
        </p:nvSpPr>
        <p:spPr>
          <a:xfrm>
            <a:off x="2286000" y="749808"/>
            <a:ext cx="75529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Orchestration</a:t>
            </a:r>
            <a:endParaRPr lang="en-US" sz="800" dirty="0"/>
          </a:p>
        </p:txBody>
      </p:sp>
      <p:sp>
        <p:nvSpPr>
          <p:cNvPr id="53" name="Shape 28"/>
          <p:cNvSpPr/>
          <p:nvPr/>
        </p:nvSpPr>
        <p:spPr>
          <a:xfrm>
            <a:off x="2194560" y="996696"/>
            <a:ext cx="1600200" cy="272491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4B000"/>
            </a:solidFill>
            <a:prstDash val="solid"/>
          </a:ln>
        </p:spPr>
      </p:sp>
      <p:sp>
        <p:nvSpPr>
          <p:cNvPr id="54" name="Shape 29"/>
          <p:cNvSpPr/>
          <p:nvPr/>
        </p:nvSpPr>
        <p:spPr>
          <a:xfrm>
            <a:off x="2286000" y="1042416"/>
            <a:ext cx="1417320" cy="2633472"/>
          </a:xfrm>
          <a:prstGeom prst="rect">
            <a:avLst/>
          </a:prstGeom>
          <a:solidFill>
            <a:srgbClr val="EDE8F9"/>
          </a:solidFill>
          <a:ln w="19050">
            <a:solidFill>
              <a:srgbClr val="5D35B1"/>
            </a:solidFill>
            <a:prstDash val="dash"/>
          </a:ln>
        </p:spPr>
      </p:sp>
      <p:sp>
        <p:nvSpPr>
          <p:cNvPr id="55" name="Text 30"/>
          <p:cNvSpPr/>
          <p:nvPr/>
        </p:nvSpPr>
        <p:spPr>
          <a:xfrm>
            <a:off x="2286000" y="107899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D35B1"/>
                </a:solidFill>
              </a:rPr>
              <a:t>Data Ingestion</a:t>
            </a:r>
            <a:endParaRPr lang="en-US" sz="800" dirty="0"/>
          </a:p>
        </p:txBody>
      </p:sp>
      <p:sp>
        <p:nvSpPr>
          <p:cNvPr id="56" name="Shape 31"/>
          <p:cNvSpPr/>
          <p:nvPr/>
        </p:nvSpPr>
        <p:spPr>
          <a:xfrm>
            <a:off x="2450592" y="1353312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57" name="Text 32"/>
          <p:cNvSpPr/>
          <p:nvPr/>
        </p:nvSpPr>
        <p:spPr>
          <a:xfrm>
            <a:off x="2450592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58" name="Shape 33"/>
          <p:cNvSpPr/>
          <p:nvPr/>
        </p:nvSpPr>
        <p:spPr>
          <a:xfrm>
            <a:off x="2633472" y="1389888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59" name="Text 34"/>
          <p:cNvSpPr/>
          <p:nvPr/>
        </p:nvSpPr>
        <p:spPr>
          <a:xfrm>
            <a:off x="2377440" y="188366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Batch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0" name="Shape 35"/>
          <p:cNvSpPr/>
          <p:nvPr/>
        </p:nvSpPr>
        <p:spPr>
          <a:xfrm>
            <a:off x="2450592" y="2121408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61" name="Text 36"/>
          <p:cNvSpPr/>
          <p:nvPr/>
        </p:nvSpPr>
        <p:spPr>
          <a:xfrm>
            <a:off x="2450592" y="21214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62" name="Shape 37"/>
          <p:cNvSpPr/>
          <p:nvPr/>
        </p:nvSpPr>
        <p:spPr>
          <a:xfrm>
            <a:off x="2633472" y="2157984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63" name="Text 38"/>
          <p:cNvSpPr/>
          <p:nvPr/>
        </p:nvSpPr>
        <p:spPr>
          <a:xfrm>
            <a:off x="237744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CDC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4" name="Shape 39"/>
          <p:cNvSpPr/>
          <p:nvPr/>
        </p:nvSpPr>
        <p:spPr>
          <a:xfrm>
            <a:off x="2450592" y="2889504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65" name="Text 40"/>
          <p:cNvSpPr/>
          <p:nvPr/>
        </p:nvSpPr>
        <p:spPr>
          <a:xfrm>
            <a:off x="2450592" y="2889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66" name="Shape 41"/>
          <p:cNvSpPr/>
          <p:nvPr/>
        </p:nvSpPr>
        <p:spPr>
          <a:xfrm>
            <a:off x="2633472" y="2926080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67" name="Text 42"/>
          <p:cNvSpPr/>
          <p:nvPr/>
        </p:nvSpPr>
        <p:spPr>
          <a:xfrm>
            <a:off x="2377440" y="341985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Streaming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8" name="Shape 43"/>
          <p:cNvSpPr/>
          <p:nvPr/>
        </p:nvSpPr>
        <p:spPr>
          <a:xfrm>
            <a:off x="3831336" y="1042416"/>
            <a:ext cx="2194560" cy="228600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69" name="Text 44"/>
          <p:cNvSpPr/>
          <p:nvPr/>
        </p:nvSpPr>
        <p:spPr>
          <a:xfrm>
            <a:off x="3831336" y="104241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ETL</a:t>
            </a:r>
            <a:endParaRPr lang="en-US" sz="800" dirty="0"/>
          </a:p>
        </p:txBody>
      </p:sp>
      <p:sp>
        <p:nvSpPr>
          <p:cNvPr id="70" name="Shape 45"/>
          <p:cNvSpPr/>
          <p:nvPr/>
        </p:nvSpPr>
        <p:spPr>
          <a:xfrm>
            <a:off x="3831336" y="1271016"/>
            <a:ext cx="219456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1" name="Shape 46"/>
          <p:cNvSpPr/>
          <p:nvPr/>
        </p:nvSpPr>
        <p:spPr>
          <a:xfrm>
            <a:off x="3941064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2" name="Text 47"/>
          <p:cNvSpPr/>
          <p:nvPr/>
        </p:nvSpPr>
        <p:spPr>
          <a:xfrm>
            <a:off x="3941064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RAW</a:t>
            </a:r>
            <a:endParaRPr lang="en-US" sz="650" dirty="0"/>
          </a:p>
        </p:txBody>
      </p:sp>
      <p:sp>
        <p:nvSpPr>
          <p:cNvPr id="73" name="Shape 48"/>
          <p:cNvSpPr/>
          <p:nvPr/>
        </p:nvSpPr>
        <p:spPr>
          <a:xfrm>
            <a:off x="4672584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4" name="Text 49"/>
          <p:cNvSpPr/>
          <p:nvPr/>
        </p:nvSpPr>
        <p:spPr>
          <a:xfrm>
            <a:off x="4672584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ODS</a:t>
            </a:r>
            <a:endParaRPr lang="en-US" sz="650" dirty="0"/>
          </a:p>
        </p:txBody>
      </p:sp>
      <p:sp>
        <p:nvSpPr>
          <p:cNvPr id="75" name="Shape 50"/>
          <p:cNvSpPr/>
          <p:nvPr/>
        </p:nvSpPr>
        <p:spPr>
          <a:xfrm>
            <a:off x="5440680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6" name="Text 51"/>
          <p:cNvSpPr/>
          <p:nvPr/>
        </p:nvSpPr>
        <p:spPr>
          <a:xfrm>
            <a:off x="5440680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Facts</a:t>
            </a:r>
            <a:endParaRPr lang="en-US" sz="650" dirty="0"/>
          </a:p>
        </p:txBody>
      </p:sp>
      <p:sp>
        <p:nvSpPr>
          <p:cNvPr id="77" name="Shape 52"/>
          <p:cNvSpPr/>
          <p:nvPr/>
        </p:nvSpPr>
        <p:spPr>
          <a:xfrm>
            <a:off x="4434840" y="1664208"/>
            <a:ext cx="237744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dash"/>
            <a:tailEnd type="arrow"/>
          </a:ln>
        </p:spPr>
      </p:sp>
      <p:sp>
        <p:nvSpPr>
          <p:cNvPr id="78" name="Shape 53"/>
          <p:cNvSpPr/>
          <p:nvPr/>
        </p:nvSpPr>
        <p:spPr>
          <a:xfrm>
            <a:off x="5184648" y="1627632"/>
            <a:ext cx="256032" cy="91440"/>
          </a:xfrm>
          <a:prstGeom prst="line">
            <a:avLst/>
          </a:prstGeom>
          <a:noFill/>
          <a:ln w="12700">
            <a:solidFill>
              <a:srgbClr val="888888"/>
            </a:solidFill>
            <a:prstDash val="dash"/>
            <a:tailEnd type="arrow"/>
          </a:ln>
        </p:spPr>
      </p:sp>
      <p:sp>
        <p:nvSpPr>
          <p:cNvPr id="79" name="Shape 54"/>
          <p:cNvSpPr/>
          <p:nvPr/>
        </p:nvSpPr>
        <p:spPr>
          <a:xfrm>
            <a:off x="4928616" y="2286000"/>
            <a:ext cx="0" cy="201168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pic>
        <p:nvPicPr>
          <p:cNvPr id="80" name="Image 23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484571" y="1298448"/>
            <a:ext cx="442570" cy="164592"/>
          </a:xfrm>
          <a:prstGeom prst="rect">
            <a:avLst/>
          </a:prstGeom>
        </p:spPr>
      </p:pic>
      <p:sp>
        <p:nvSpPr>
          <p:cNvPr id="81" name="Shape 55"/>
          <p:cNvSpPr/>
          <p:nvPr/>
        </p:nvSpPr>
        <p:spPr>
          <a:xfrm>
            <a:off x="3831336" y="2487168"/>
            <a:ext cx="219456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82" name="Text 56"/>
          <p:cNvSpPr/>
          <p:nvPr/>
        </p:nvSpPr>
        <p:spPr>
          <a:xfrm>
            <a:off x="3831336" y="248716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Data Warehouse</a:t>
            </a:r>
            <a:endParaRPr lang="en-US" sz="800" dirty="0"/>
          </a:p>
        </p:txBody>
      </p:sp>
      <p:sp>
        <p:nvSpPr>
          <p:cNvPr id="83" name="Shape 57"/>
          <p:cNvSpPr/>
          <p:nvPr/>
        </p:nvSpPr>
        <p:spPr>
          <a:xfrm>
            <a:off x="3831336" y="2724912"/>
            <a:ext cx="219456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4" name="Shape 58"/>
          <p:cNvSpPr/>
          <p:nvPr/>
        </p:nvSpPr>
        <p:spPr>
          <a:xfrm>
            <a:off x="3959352" y="2779776"/>
            <a:ext cx="1938528" cy="274320"/>
          </a:xfrm>
          <a:prstGeom prst="rect">
            <a:avLst>
              <a:gd name="adj" fmla="val 20000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pic>
        <p:nvPicPr>
          <p:cNvPr id="85" name="Image 24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032504" y="2850568"/>
            <a:ext cx="182880" cy="96159"/>
          </a:xfrm>
          <a:prstGeom prst="rect">
            <a:avLst/>
          </a:prstGeom>
        </p:spPr>
      </p:pic>
      <p:sp>
        <p:nvSpPr>
          <p:cNvPr id="86" name="Text 59"/>
          <p:cNvSpPr/>
          <p:nvPr/>
        </p:nvSpPr>
        <p:spPr>
          <a:xfrm>
            <a:off x="4251960" y="27797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Databricks SQL</a:t>
            </a:r>
            <a:endParaRPr lang="en-US" sz="750" dirty="0"/>
          </a:p>
        </p:txBody>
      </p:sp>
      <p:sp>
        <p:nvSpPr>
          <p:cNvPr id="87" name="Text 60"/>
          <p:cNvSpPr/>
          <p:nvPr/>
        </p:nvSpPr>
        <p:spPr>
          <a:xfrm>
            <a:off x="3922776" y="3081528"/>
            <a:ext cx="20116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888888"/>
                </a:solidFill>
              </a:rPr>
              <a:t>Best-in-class DW performance</a:t>
            </a:r>
            <a:endParaRPr lang="en-US" sz="550" dirty="0"/>
          </a:p>
        </p:txBody>
      </p:sp>
      <p:sp>
        <p:nvSpPr>
          <p:cNvPr id="88" name="Shape 61"/>
          <p:cNvSpPr/>
          <p:nvPr/>
        </p:nvSpPr>
        <p:spPr>
          <a:xfrm>
            <a:off x="3831336" y="3364992"/>
            <a:ext cx="219456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89" name="Text 62"/>
          <p:cNvSpPr/>
          <p:nvPr/>
        </p:nvSpPr>
        <p:spPr>
          <a:xfrm>
            <a:off x="3831336" y="336499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AI Agent Systems</a:t>
            </a:r>
            <a:endParaRPr lang="en-US" sz="800" dirty="0"/>
          </a:p>
        </p:txBody>
      </p:sp>
      <p:sp>
        <p:nvSpPr>
          <p:cNvPr id="90" name="Shape 63"/>
          <p:cNvSpPr/>
          <p:nvPr/>
        </p:nvSpPr>
        <p:spPr>
          <a:xfrm>
            <a:off x="3831336" y="3602736"/>
            <a:ext cx="2194560" cy="9692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91" name="Shape 64"/>
          <p:cNvSpPr/>
          <p:nvPr/>
        </p:nvSpPr>
        <p:spPr>
          <a:xfrm>
            <a:off x="3904488" y="367588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2" name="Text 65"/>
          <p:cNvSpPr/>
          <p:nvPr/>
        </p:nvSpPr>
        <p:spPr>
          <a:xfrm>
            <a:off x="3904488" y="367588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Prepare data</a:t>
            </a:r>
            <a:endParaRPr lang="en-US" sz="550" dirty="0"/>
          </a:p>
        </p:txBody>
      </p:sp>
      <p:sp>
        <p:nvSpPr>
          <p:cNvPr id="93" name="Shape 66"/>
          <p:cNvSpPr/>
          <p:nvPr/>
        </p:nvSpPr>
        <p:spPr>
          <a:xfrm>
            <a:off x="5148072" y="367588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4" name="Text 67"/>
          <p:cNvSpPr/>
          <p:nvPr/>
        </p:nvSpPr>
        <p:spPr>
          <a:xfrm>
            <a:off x="5148072" y="367588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Build agents</a:t>
            </a:r>
            <a:endParaRPr lang="en-US" sz="550" dirty="0"/>
          </a:p>
        </p:txBody>
      </p:sp>
      <p:sp>
        <p:nvSpPr>
          <p:cNvPr id="95" name="Shape 68"/>
          <p:cNvSpPr/>
          <p:nvPr/>
        </p:nvSpPr>
        <p:spPr>
          <a:xfrm>
            <a:off x="3904488" y="395020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6" name="Text 69"/>
          <p:cNvSpPr/>
          <p:nvPr/>
        </p:nvSpPr>
        <p:spPr>
          <a:xfrm>
            <a:off x="3904488" y="395020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Evaluate agents</a:t>
            </a:r>
            <a:endParaRPr lang="en-US" sz="550" dirty="0"/>
          </a:p>
        </p:txBody>
      </p:sp>
      <p:sp>
        <p:nvSpPr>
          <p:cNvPr id="97" name="Shape 70"/>
          <p:cNvSpPr/>
          <p:nvPr/>
        </p:nvSpPr>
        <p:spPr>
          <a:xfrm>
            <a:off x="5148072" y="395020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8" name="Text 71"/>
          <p:cNvSpPr/>
          <p:nvPr/>
        </p:nvSpPr>
        <p:spPr>
          <a:xfrm>
            <a:off x="5148072" y="395020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Deploy agents</a:t>
            </a:r>
            <a:endParaRPr lang="en-US" sz="550" dirty="0"/>
          </a:p>
        </p:txBody>
      </p:sp>
      <p:sp>
        <p:nvSpPr>
          <p:cNvPr id="99" name="Shape 72"/>
          <p:cNvSpPr/>
          <p:nvPr/>
        </p:nvSpPr>
        <p:spPr>
          <a:xfrm>
            <a:off x="4526280" y="422452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00" name="Text 73"/>
          <p:cNvSpPr/>
          <p:nvPr/>
        </p:nvSpPr>
        <p:spPr>
          <a:xfrm>
            <a:off x="4526280" y="422452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Govern agents</a:t>
            </a:r>
            <a:endParaRPr lang="en-US" sz="550" dirty="0"/>
          </a:p>
        </p:txBody>
      </p:sp>
      <p:sp>
        <p:nvSpPr>
          <p:cNvPr id="101" name="Shape 74"/>
          <p:cNvSpPr/>
          <p:nvPr/>
        </p:nvSpPr>
        <p:spPr>
          <a:xfrm>
            <a:off x="6153912" y="1042416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02" name="Text 75"/>
          <p:cNvSpPr/>
          <p:nvPr/>
        </p:nvSpPr>
        <p:spPr>
          <a:xfrm>
            <a:off x="6153912" y="1042416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Streaming analytics</a:t>
            </a:r>
            <a:endParaRPr lang="en-US" sz="700" dirty="0"/>
          </a:p>
        </p:txBody>
      </p:sp>
      <p:sp>
        <p:nvSpPr>
          <p:cNvPr id="103" name="Shape 76"/>
          <p:cNvSpPr/>
          <p:nvPr/>
        </p:nvSpPr>
        <p:spPr>
          <a:xfrm>
            <a:off x="6153912" y="1280160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4" name="Shape 77"/>
          <p:cNvSpPr/>
          <p:nvPr/>
        </p:nvSpPr>
        <p:spPr>
          <a:xfrm>
            <a:off x="6281928" y="1353312"/>
            <a:ext cx="310896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05" name="Text 78"/>
          <p:cNvSpPr/>
          <p:nvPr/>
        </p:nvSpPr>
        <p:spPr>
          <a:xfrm>
            <a:off x="6281928" y="135331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SA</a:t>
            </a:r>
            <a:endParaRPr lang="en-US" sz="650" dirty="0"/>
          </a:p>
        </p:txBody>
      </p:sp>
      <p:sp>
        <p:nvSpPr>
          <p:cNvPr id="106" name="Shape 79"/>
          <p:cNvSpPr/>
          <p:nvPr/>
        </p:nvSpPr>
        <p:spPr>
          <a:xfrm>
            <a:off x="6153912" y="1755648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07" name="Text 80"/>
          <p:cNvSpPr/>
          <p:nvPr/>
        </p:nvSpPr>
        <p:spPr>
          <a:xfrm>
            <a:off x="6153912" y="1755648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BI &amp; reporting</a:t>
            </a:r>
            <a:endParaRPr lang="en-US" sz="700" dirty="0"/>
          </a:p>
        </p:txBody>
      </p:sp>
      <p:sp>
        <p:nvSpPr>
          <p:cNvPr id="108" name="Shape 81"/>
          <p:cNvSpPr/>
          <p:nvPr/>
        </p:nvSpPr>
        <p:spPr>
          <a:xfrm>
            <a:off x="6153912" y="1993392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9" name="Shape 82"/>
          <p:cNvSpPr/>
          <p:nvPr/>
        </p:nvSpPr>
        <p:spPr>
          <a:xfrm>
            <a:off x="6281928" y="2066544"/>
            <a:ext cx="310896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10" name="Text 83"/>
          <p:cNvSpPr/>
          <p:nvPr/>
        </p:nvSpPr>
        <p:spPr>
          <a:xfrm>
            <a:off x="6281928" y="206654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BI</a:t>
            </a:r>
            <a:endParaRPr lang="en-US" sz="650" dirty="0"/>
          </a:p>
        </p:txBody>
      </p:sp>
      <p:sp>
        <p:nvSpPr>
          <p:cNvPr id="111" name="Shape 84"/>
          <p:cNvSpPr/>
          <p:nvPr/>
        </p:nvSpPr>
        <p:spPr>
          <a:xfrm>
            <a:off x="6153912" y="2468880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12" name="Text 85"/>
          <p:cNvSpPr/>
          <p:nvPr/>
        </p:nvSpPr>
        <p:spPr>
          <a:xfrm>
            <a:off x="6153912" y="2468880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Data sharing &amp; Marketplace</a:t>
            </a:r>
            <a:endParaRPr lang="en-US" sz="700" dirty="0"/>
          </a:p>
        </p:txBody>
      </p:sp>
      <p:sp>
        <p:nvSpPr>
          <p:cNvPr id="113" name="Shape 86"/>
          <p:cNvSpPr/>
          <p:nvPr/>
        </p:nvSpPr>
        <p:spPr>
          <a:xfrm>
            <a:off x="6153912" y="2706624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4" name="Shape 87"/>
          <p:cNvSpPr/>
          <p:nvPr/>
        </p:nvSpPr>
        <p:spPr>
          <a:xfrm>
            <a:off x="6281928" y="2779776"/>
            <a:ext cx="310896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15" name="Text 88"/>
          <p:cNvSpPr/>
          <p:nvPr/>
        </p:nvSpPr>
        <p:spPr>
          <a:xfrm>
            <a:off x="6281928" y="27797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DS</a:t>
            </a:r>
            <a:endParaRPr lang="en-US" sz="650" dirty="0"/>
          </a:p>
        </p:txBody>
      </p:sp>
      <p:sp>
        <p:nvSpPr>
          <p:cNvPr id="116" name="Shape 89"/>
          <p:cNvSpPr/>
          <p:nvPr/>
        </p:nvSpPr>
        <p:spPr>
          <a:xfrm>
            <a:off x="6153912" y="3182112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17" name="Text 90"/>
          <p:cNvSpPr/>
          <p:nvPr/>
        </p:nvSpPr>
        <p:spPr>
          <a:xfrm>
            <a:off x="6153912" y="3182112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AI Applications</a:t>
            </a:r>
            <a:endParaRPr lang="en-US" sz="700" dirty="0"/>
          </a:p>
        </p:txBody>
      </p:sp>
      <p:sp>
        <p:nvSpPr>
          <p:cNvPr id="118" name="Shape 91"/>
          <p:cNvSpPr/>
          <p:nvPr/>
        </p:nvSpPr>
        <p:spPr>
          <a:xfrm>
            <a:off x="6153912" y="3419856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9" name="Shape 92"/>
          <p:cNvSpPr/>
          <p:nvPr/>
        </p:nvSpPr>
        <p:spPr>
          <a:xfrm>
            <a:off x="6281928" y="3493008"/>
            <a:ext cx="310896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20" name="Text 93"/>
          <p:cNvSpPr/>
          <p:nvPr/>
        </p:nvSpPr>
        <p:spPr>
          <a:xfrm>
            <a:off x="6281928" y="3493008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AI</a:t>
            </a:r>
            <a:endParaRPr lang="en-US" sz="650" dirty="0"/>
          </a:p>
        </p:txBody>
      </p:sp>
      <p:sp>
        <p:nvSpPr>
          <p:cNvPr id="121" name="Shape 94"/>
          <p:cNvSpPr/>
          <p:nvPr/>
        </p:nvSpPr>
        <p:spPr>
          <a:xfrm>
            <a:off x="6153912" y="3895344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22" name="Text 95"/>
          <p:cNvSpPr/>
          <p:nvPr/>
        </p:nvSpPr>
        <p:spPr>
          <a:xfrm>
            <a:off x="6153912" y="3895344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Apps</a:t>
            </a:r>
            <a:endParaRPr lang="en-US" sz="700" dirty="0"/>
          </a:p>
        </p:txBody>
      </p:sp>
      <p:sp>
        <p:nvSpPr>
          <p:cNvPr id="123" name="Shape 96"/>
          <p:cNvSpPr/>
          <p:nvPr/>
        </p:nvSpPr>
        <p:spPr>
          <a:xfrm>
            <a:off x="6153912" y="4133088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4" name="Shape 97"/>
          <p:cNvSpPr/>
          <p:nvPr/>
        </p:nvSpPr>
        <p:spPr>
          <a:xfrm>
            <a:off x="6281928" y="4206240"/>
            <a:ext cx="310896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25" name="Text 98"/>
          <p:cNvSpPr/>
          <p:nvPr/>
        </p:nvSpPr>
        <p:spPr>
          <a:xfrm>
            <a:off x="6281928" y="42062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AP</a:t>
            </a:r>
            <a:endParaRPr lang="en-US" sz="650" dirty="0"/>
          </a:p>
        </p:txBody>
      </p:sp>
      <p:sp>
        <p:nvSpPr>
          <p:cNvPr id="126" name="Shape 99"/>
          <p:cNvSpPr/>
          <p:nvPr/>
        </p:nvSpPr>
        <p:spPr>
          <a:xfrm>
            <a:off x="3703320" y="1463040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7" name="Shape 100"/>
          <p:cNvSpPr/>
          <p:nvPr/>
        </p:nvSpPr>
        <p:spPr>
          <a:xfrm>
            <a:off x="3703320" y="2871216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8" name="Shape 101"/>
          <p:cNvSpPr/>
          <p:nvPr/>
        </p:nvSpPr>
        <p:spPr>
          <a:xfrm>
            <a:off x="3703320" y="3913632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9" name="Shape 102"/>
          <p:cNvSpPr/>
          <p:nvPr/>
        </p:nvSpPr>
        <p:spPr>
          <a:xfrm>
            <a:off x="6025896" y="1371600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0" name="Shape 103"/>
          <p:cNvSpPr/>
          <p:nvPr/>
        </p:nvSpPr>
        <p:spPr>
          <a:xfrm>
            <a:off x="6025896" y="2084832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1" name="Shape 104"/>
          <p:cNvSpPr/>
          <p:nvPr/>
        </p:nvSpPr>
        <p:spPr>
          <a:xfrm>
            <a:off x="6025896" y="2798064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2" name="Shape 105"/>
          <p:cNvSpPr/>
          <p:nvPr/>
        </p:nvSpPr>
        <p:spPr>
          <a:xfrm>
            <a:off x="6025896" y="3511296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3" name="Shape 106"/>
          <p:cNvSpPr/>
          <p:nvPr/>
        </p:nvSpPr>
        <p:spPr>
          <a:xfrm>
            <a:off x="6025896" y="4224528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4" name="Shape 107"/>
          <p:cNvSpPr/>
          <p:nvPr/>
        </p:nvSpPr>
        <p:spPr>
          <a:xfrm>
            <a:off x="2212848" y="4754880"/>
            <a:ext cx="7699248" cy="91440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135" name="Text 108"/>
          <p:cNvSpPr/>
          <p:nvPr/>
        </p:nvSpPr>
        <p:spPr>
          <a:xfrm>
            <a:off x="2212848" y="4791456"/>
            <a:ext cx="7699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Unified, Open and Scalable Lakehouse</a:t>
            </a:r>
            <a:endParaRPr lang="en-US" sz="900" dirty="0"/>
          </a:p>
        </p:txBody>
      </p:sp>
      <p:sp>
        <p:nvSpPr>
          <p:cNvPr id="136" name="Shape 109"/>
          <p:cNvSpPr/>
          <p:nvPr/>
        </p:nvSpPr>
        <p:spPr>
          <a:xfrm>
            <a:off x="2304288" y="5029200"/>
            <a:ext cx="3685032" cy="566928"/>
          </a:xfrm>
          <a:prstGeom prst="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7" name="Text 110"/>
          <p:cNvSpPr/>
          <p:nvPr/>
        </p:nvSpPr>
        <p:spPr>
          <a:xfrm>
            <a:off x="2322576" y="5029200"/>
            <a:ext cx="36484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A1A1A"/>
                </a:solidFill>
              </a:rPr>
              <a:t>Governance, Security, Observability, Interoperability, Sharing</a:t>
            </a:r>
            <a:endParaRPr lang="en-US" sz="550" dirty="0"/>
          </a:p>
        </p:txBody>
      </p:sp>
      <p:pic>
        <p:nvPicPr>
          <p:cNvPr id="138" name="Image 25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735324" y="5259776"/>
            <a:ext cx="201168" cy="105775"/>
          </a:xfrm>
          <a:prstGeom prst="rect">
            <a:avLst/>
          </a:prstGeom>
        </p:spPr>
      </p:pic>
      <p:sp>
        <p:nvSpPr>
          <p:cNvPr id="139" name="Text 111"/>
          <p:cNvSpPr/>
          <p:nvPr/>
        </p:nvSpPr>
        <p:spPr>
          <a:xfrm>
            <a:off x="3973068" y="5193792"/>
            <a:ext cx="3300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35B1"/>
                </a:solidFill>
              </a:rPr>
              <a:t>Unity Catalog</a:t>
            </a:r>
            <a:endParaRPr lang="en-US" sz="1000" dirty="0"/>
          </a:p>
        </p:txBody>
      </p:sp>
      <p:sp>
        <p:nvSpPr>
          <p:cNvPr id="140" name="Shape 112"/>
          <p:cNvSpPr/>
          <p:nvPr/>
        </p:nvSpPr>
        <p:spPr>
          <a:xfrm>
            <a:off x="6135624" y="5029200"/>
            <a:ext cx="3685032" cy="566928"/>
          </a:xfrm>
          <a:prstGeom prst="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1" name="Text 113"/>
          <p:cNvSpPr/>
          <p:nvPr/>
        </p:nvSpPr>
        <p:spPr>
          <a:xfrm>
            <a:off x="6153912" y="5029200"/>
            <a:ext cx="36484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A1A1A"/>
                </a:solidFill>
              </a:rPr>
              <a:t>Universal, Open Storage</a:t>
            </a:r>
            <a:endParaRPr lang="en-US" sz="550" dirty="0"/>
          </a:p>
        </p:txBody>
      </p:sp>
      <p:sp>
        <p:nvSpPr>
          <p:cNvPr id="142" name="Shape 114"/>
          <p:cNvSpPr/>
          <p:nvPr/>
        </p:nvSpPr>
        <p:spPr>
          <a:xfrm>
            <a:off x="6227064" y="5212080"/>
            <a:ext cx="1170432" cy="310896"/>
          </a:xfrm>
          <a:prstGeom prst="rect">
            <a:avLst>
              <a:gd name="adj" fmla="val 11765"/>
            </a:avLst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143" name="Image 26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515100" y="5239512"/>
            <a:ext cx="594360" cy="237744"/>
          </a:xfrm>
          <a:prstGeom prst="rect">
            <a:avLst/>
          </a:prstGeom>
        </p:spPr>
      </p:pic>
      <p:sp>
        <p:nvSpPr>
          <p:cNvPr id="144" name="Shape 115"/>
          <p:cNvSpPr/>
          <p:nvPr/>
        </p:nvSpPr>
        <p:spPr>
          <a:xfrm>
            <a:off x="7525512" y="5212080"/>
            <a:ext cx="1170432" cy="310896"/>
          </a:xfrm>
          <a:prstGeom prst="rect">
            <a:avLst>
              <a:gd name="adj" fmla="val 11765"/>
            </a:avLst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145" name="Image 27" descr="preencoded.png">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7991856" y="5239512"/>
            <a:ext cx="237744" cy="237744"/>
          </a:xfrm>
          <a:prstGeom prst="rect">
            <a:avLst/>
          </a:prstGeom>
        </p:spPr>
      </p:pic>
      <p:sp>
        <p:nvSpPr>
          <p:cNvPr id="146" name="Shape 116"/>
          <p:cNvSpPr/>
          <p:nvPr/>
        </p:nvSpPr>
        <p:spPr>
          <a:xfrm>
            <a:off x="8823960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7" name="Text 117"/>
          <p:cNvSpPr/>
          <p:nvPr/>
        </p:nvSpPr>
        <p:spPr>
          <a:xfrm>
            <a:off x="8823960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Iceberg</a:t>
            </a:r>
            <a:endParaRPr lang="en-US" sz="800" dirty="0"/>
          </a:p>
        </p:txBody>
      </p:sp>
      <p:sp>
        <p:nvSpPr>
          <p:cNvPr id="148" name="Shape 118"/>
          <p:cNvSpPr/>
          <p:nvPr/>
        </p:nvSpPr>
        <p:spPr>
          <a:xfrm>
            <a:off x="9957816" y="1371600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49" name="Shape 119"/>
          <p:cNvSpPr/>
          <p:nvPr/>
        </p:nvSpPr>
        <p:spPr>
          <a:xfrm>
            <a:off x="10094976" y="1161288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0" name="Text 120"/>
          <p:cNvSpPr/>
          <p:nvPr/>
        </p:nvSpPr>
        <p:spPr>
          <a:xfrm>
            <a:off x="10168128" y="11612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Customer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Churn Prediction</a:t>
            </a:r>
            <a:endParaRPr lang="en-US" sz="650" dirty="0"/>
          </a:p>
        </p:txBody>
      </p:sp>
      <p:sp>
        <p:nvSpPr>
          <p:cNvPr id="151" name="Shape 121"/>
          <p:cNvSpPr/>
          <p:nvPr/>
        </p:nvSpPr>
        <p:spPr>
          <a:xfrm>
            <a:off x="9957816" y="2084832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2" name="Shape 122"/>
          <p:cNvSpPr/>
          <p:nvPr/>
        </p:nvSpPr>
        <p:spPr>
          <a:xfrm>
            <a:off x="10094976" y="1874520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3" name="Text 123"/>
          <p:cNvSpPr/>
          <p:nvPr/>
        </p:nvSpPr>
        <p:spPr>
          <a:xfrm>
            <a:off x="10168128" y="1874520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Customer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Segmentation</a:t>
            </a:r>
            <a:endParaRPr lang="en-US" sz="650" dirty="0"/>
          </a:p>
        </p:txBody>
      </p:sp>
      <p:sp>
        <p:nvSpPr>
          <p:cNvPr id="154" name="Shape 124"/>
          <p:cNvSpPr/>
          <p:nvPr/>
        </p:nvSpPr>
        <p:spPr>
          <a:xfrm>
            <a:off x="9957816" y="2798064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5" name="Shape 125"/>
          <p:cNvSpPr/>
          <p:nvPr/>
        </p:nvSpPr>
        <p:spPr>
          <a:xfrm>
            <a:off x="10094976" y="2587752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6" name="Text 126"/>
          <p:cNvSpPr/>
          <p:nvPr/>
        </p:nvSpPr>
        <p:spPr>
          <a:xfrm>
            <a:off x="10168128" y="2587752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HR Analytics</a:t>
            </a:r>
            <a:endParaRPr lang="en-US" sz="650" dirty="0"/>
          </a:p>
        </p:txBody>
      </p:sp>
      <p:sp>
        <p:nvSpPr>
          <p:cNvPr id="157" name="Shape 127"/>
          <p:cNvSpPr/>
          <p:nvPr/>
        </p:nvSpPr>
        <p:spPr>
          <a:xfrm>
            <a:off x="9957816" y="3511296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8" name="Shape 128"/>
          <p:cNvSpPr/>
          <p:nvPr/>
        </p:nvSpPr>
        <p:spPr>
          <a:xfrm>
            <a:off x="10094976" y="3300984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9" name="Text 129"/>
          <p:cNvSpPr/>
          <p:nvPr/>
        </p:nvSpPr>
        <p:spPr>
          <a:xfrm>
            <a:off x="10168128" y="3300984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Operational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Dashboards</a:t>
            </a:r>
            <a:endParaRPr lang="en-US" sz="650" dirty="0"/>
          </a:p>
        </p:txBody>
      </p:sp>
      <p:sp>
        <p:nvSpPr>
          <p:cNvPr id="160" name="Shape 130"/>
          <p:cNvSpPr/>
          <p:nvPr/>
        </p:nvSpPr>
        <p:spPr>
          <a:xfrm>
            <a:off x="9957816" y="4224528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61" name="Shape 131"/>
          <p:cNvSpPr/>
          <p:nvPr/>
        </p:nvSpPr>
        <p:spPr>
          <a:xfrm>
            <a:off x="10094976" y="4014216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2" name="Text 132"/>
          <p:cNvSpPr/>
          <p:nvPr/>
        </p:nvSpPr>
        <p:spPr>
          <a:xfrm>
            <a:off x="10168128" y="4014216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Risk Assessment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&amp; Optimization</a:t>
            </a:r>
            <a:endParaRPr lang="en-US" sz="650" dirty="0"/>
          </a:p>
        </p:txBody>
      </p:sp>
      <p:sp>
        <p:nvSpPr>
          <p:cNvPr id="163" name="Text 133"/>
          <p:cNvSpPr/>
          <p:nvPr/>
        </p:nvSpPr>
        <p:spPr>
          <a:xfrm>
            <a:off x="109728" y="65836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88888"/>
                </a:solidFill>
              </a:rPr>
              <a:t>© 2026 Marionete</a:t>
            </a:r>
            <a:endParaRPr lang="en-US" sz="600" dirty="0"/>
          </a:p>
        </p:txBody>
      </p:sp>
      <p:sp>
        <p:nvSpPr>
          <p:cNvPr id="164" name="Text 134"/>
          <p:cNvSpPr/>
          <p:nvPr/>
        </p:nvSpPr>
        <p:spPr>
          <a:xfrm>
            <a:off x="5852160" y="6583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D35B1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2026-03-08T00:41:08Z</dcterms:created>
  <dcterms:modified xsi:type="dcterms:W3CDTF">2026-03-08T00:41:08Z</dcterms:modified>
</cp:coreProperties>
</file>