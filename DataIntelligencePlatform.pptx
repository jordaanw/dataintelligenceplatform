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188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D35B1"/>
                </a:solidFill>
              </a:rPr>
              <a:t>Data Intelligence Platform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" y="438912"/>
            <a:ext cx="1920240" cy="2286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" y="43891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Message Store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73152" y="667512"/>
            <a:ext cx="1920240" cy="886968"/>
          </a:xfrm>
          <a:prstGeom prst="rect">
            <a:avLst/>
          </a:prstGeom>
          <a:solidFill>
            <a:srgbClr val="E8F5F0"/>
          </a:solidFill>
          <a:ln w="9525">
            <a:solidFill>
              <a:srgbClr val="1A7A5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36" y="758952"/>
            <a:ext cx="347472" cy="34747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75895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8072" y="722376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Pulsar</a:t>
            </a:r>
            <a:endParaRPr lang="en-US" sz="580" dirty="0"/>
          </a:p>
        </p:txBody>
      </p:sp>
      <p:sp>
        <p:nvSpPr>
          <p:cNvPr id="9" name="Text 5"/>
          <p:cNvSpPr/>
          <p:nvPr/>
        </p:nvSpPr>
        <p:spPr>
          <a:xfrm>
            <a:off x="118872" y="1143000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Amazon MSK</a:t>
            </a:r>
            <a:endParaRPr lang="en-US" sz="580" dirty="0"/>
          </a:p>
        </p:txBody>
      </p:sp>
      <p:sp>
        <p:nvSpPr>
          <p:cNvPr id="10" name="Text 6"/>
          <p:cNvSpPr/>
          <p:nvPr/>
        </p:nvSpPr>
        <p:spPr>
          <a:xfrm>
            <a:off x="728472" y="1143000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Kinesis</a:t>
            </a:r>
            <a:endParaRPr lang="en-US" sz="580" dirty="0"/>
          </a:p>
        </p:txBody>
      </p:sp>
      <p:sp>
        <p:nvSpPr>
          <p:cNvPr id="11" name="Text 7"/>
          <p:cNvSpPr/>
          <p:nvPr/>
        </p:nvSpPr>
        <p:spPr>
          <a:xfrm>
            <a:off x="1338072" y="1143000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Azure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Event Hubs</a:t>
            </a:r>
            <a:endParaRPr lang="en-US" sz="580" dirty="0"/>
          </a:p>
        </p:txBody>
      </p:sp>
      <p:sp>
        <p:nvSpPr>
          <p:cNvPr id="12" name="Text 8"/>
          <p:cNvSpPr/>
          <p:nvPr/>
        </p:nvSpPr>
        <p:spPr>
          <a:xfrm>
            <a:off x="118872" y="1563624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GCP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Pub/Sub</a:t>
            </a:r>
            <a:endParaRPr lang="en-US" sz="580" dirty="0"/>
          </a:p>
        </p:txBody>
      </p:sp>
      <p:sp>
        <p:nvSpPr>
          <p:cNvPr id="13" name="Shape 9"/>
          <p:cNvSpPr/>
          <p:nvPr/>
        </p:nvSpPr>
        <p:spPr>
          <a:xfrm>
            <a:off x="73152" y="1609344"/>
            <a:ext cx="1920240" cy="2286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" y="160934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Legacy Databases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73152" y="1837944"/>
            <a:ext cx="1920240" cy="758952"/>
          </a:xfrm>
          <a:prstGeom prst="rect">
            <a:avLst/>
          </a:prstGeom>
          <a:solidFill>
            <a:srgbClr val="E8F5F0"/>
          </a:solidFill>
          <a:ln w="9525">
            <a:solidFill>
              <a:srgbClr val="1A7A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8872" y="189280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SQL Server</a:t>
            </a:r>
            <a:endParaRPr lang="en-US" sz="58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9536" y="192938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38072" y="189280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IBM DB2</a:t>
            </a:r>
            <a:endParaRPr lang="en-US" sz="58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9936" y="2350008"/>
            <a:ext cx="347472" cy="347472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2350008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38072" y="2313432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Oracle DB</a:t>
            </a:r>
            <a:endParaRPr lang="en-US" sz="580" dirty="0"/>
          </a:p>
        </p:txBody>
      </p:sp>
      <p:sp>
        <p:nvSpPr>
          <p:cNvPr id="22" name="Shape 15"/>
          <p:cNvSpPr/>
          <p:nvPr/>
        </p:nvSpPr>
        <p:spPr>
          <a:xfrm>
            <a:off x="73152" y="2651760"/>
            <a:ext cx="1920240" cy="2286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73152" y="2651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Cloud Databases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73152" y="2880360"/>
            <a:ext cx="1920240" cy="594360"/>
          </a:xfrm>
          <a:prstGeom prst="rect">
            <a:avLst/>
          </a:prstGeom>
          <a:solidFill>
            <a:srgbClr val="E8F5F0"/>
          </a:solidFill>
          <a:ln w="9525">
            <a:solidFill>
              <a:srgbClr val="1A7A5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18872" y="2935224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Azure SQL</a:t>
            </a:r>
            <a:endParaRPr lang="en-US" sz="580" dirty="0"/>
          </a:p>
        </p:txBody>
      </p:sp>
      <p:sp>
        <p:nvSpPr>
          <p:cNvPr id="26" name="Text 19"/>
          <p:cNvSpPr/>
          <p:nvPr/>
        </p:nvSpPr>
        <p:spPr>
          <a:xfrm>
            <a:off x="728472" y="2935224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AWS RDS</a:t>
            </a:r>
            <a:endParaRPr lang="en-US" sz="58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69136" y="2971800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8872" y="335584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BigQuery</a:t>
            </a:r>
            <a:endParaRPr lang="en-US" sz="580" dirty="0"/>
          </a:p>
        </p:txBody>
      </p:sp>
      <p:sp>
        <p:nvSpPr>
          <p:cNvPr id="29" name="Text 21"/>
          <p:cNvSpPr/>
          <p:nvPr/>
        </p:nvSpPr>
        <p:spPr>
          <a:xfrm>
            <a:off x="728472" y="335584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Redshift</a:t>
            </a:r>
            <a:endParaRPr lang="en-US" sz="580" dirty="0"/>
          </a:p>
        </p:txBody>
      </p:sp>
      <p:sp>
        <p:nvSpPr>
          <p:cNvPr id="30" name="Text 22"/>
          <p:cNvSpPr/>
          <p:nvPr/>
        </p:nvSpPr>
        <p:spPr>
          <a:xfrm>
            <a:off x="1338072" y="335584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DynamoDB</a:t>
            </a:r>
            <a:endParaRPr lang="en-US" sz="580" dirty="0"/>
          </a:p>
        </p:txBody>
      </p:sp>
      <p:sp>
        <p:nvSpPr>
          <p:cNvPr id="31" name="Shape 23"/>
          <p:cNvSpPr/>
          <p:nvPr/>
        </p:nvSpPr>
        <p:spPr>
          <a:xfrm>
            <a:off x="73152" y="3529584"/>
            <a:ext cx="1920240" cy="2286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3152" y="352958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Enterprise Applications</a:t>
            </a:r>
            <a:endParaRPr lang="en-US" sz="750" dirty="0"/>
          </a:p>
        </p:txBody>
      </p:sp>
      <p:sp>
        <p:nvSpPr>
          <p:cNvPr id="33" name="Shape 25"/>
          <p:cNvSpPr/>
          <p:nvPr/>
        </p:nvSpPr>
        <p:spPr>
          <a:xfrm>
            <a:off x="73152" y="3758184"/>
            <a:ext cx="1920240" cy="978408"/>
          </a:xfrm>
          <a:prstGeom prst="rect">
            <a:avLst/>
          </a:prstGeom>
          <a:solidFill>
            <a:srgbClr val="E8F5F0"/>
          </a:solidFill>
          <a:ln w="9525">
            <a:solidFill>
              <a:srgbClr val="1A7A5E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118872" y="381304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Salesforce</a:t>
            </a:r>
            <a:endParaRPr lang="en-US" sz="580" dirty="0"/>
          </a:p>
        </p:txBody>
      </p:sp>
      <p:sp>
        <p:nvSpPr>
          <p:cNvPr id="35" name="Text 27"/>
          <p:cNvSpPr/>
          <p:nvPr/>
        </p:nvSpPr>
        <p:spPr>
          <a:xfrm>
            <a:off x="728472" y="381304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Workday</a:t>
            </a:r>
            <a:endParaRPr lang="en-US" sz="580" dirty="0"/>
          </a:p>
        </p:txBody>
      </p:sp>
      <p:sp>
        <p:nvSpPr>
          <p:cNvPr id="36" name="Text 28"/>
          <p:cNvSpPr/>
          <p:nvPr/>
        </p:nvSpPr>
        <p:spPr>
          <a:xfrm>
            <a:off x="1338072" y="3813048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Google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Analytics</a:t>
            </a:r>
            <a:endParaRPr lang="en-US" sz="580" dirty="0"/>
          </a:p>
        </p:txBody>
      </p:sp>
      <p:sp>
        <p:nvSpPr>
          <p:cNvPr id="37" name="Text 29"/>
          <p:cNvSpPr/>
          <p:nvPr/>
        </p:nvSpPr>
        <p:spPr>
          <a:xfrm>
            <a:off x="118872" y="4233672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Oracle</a:t>
            </a:r>
            <a:endParaRPr lang="en-US" sz="580" dirty="0"/>
          </a:p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NetSuite</a:t>
            </a:r>
            <a:endParaRPr lang="en-US" sz="580" dirty="0"/>
          </a:p>
        </p:txBody>
      </p:sp>
      <p:sp>
        <p:nvSpPr>
          <p:cNvPr id="38" name="Text 30"/>
          <p:cNvSpPr/>
          <p:nvPr/>
        </p:nvSpPr>
        <p:spPr>
          <a:xfrm>
            <a:off x="728472" y="4233672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ServiceNow</a:t>
            </a:r>
            <a:endParaRPr lang="en-US" sz="580" dirty="0"/>
          </a:p>
        </p:txBody>
      </p:sp>
      <p:sp>
        <p:nvSpPr>
          <p:cNvPr id="39" name="Text 31"/>
          <p:cNvSpPr/>
          <p:nvPr/>
        </p:nvSpPr>
        <p:spPr>
          <a:xfrm>
            <a:off x="1338072" y="4233672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Google Ads</a:t>
            </a:r>
            <a:endParaRPr lang="en-US" sz="580" dirty="0"/>
          </a:p>
        </p:txBody>
      </p:sp>
      <p:sp>
        <p:nvSpPr>
          <p:cNvPr id="40" name="Text 32"/>
          <p:cNvSpPr/>
          <p:nvPr/>
        </p:nvSpPr>
        <p:spPr>
          <a:xfrm>
            <a:off x="118872" y="4654296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MS Dynamics 365</a:t>
            </a:r>
            <a:endParaRPr lang="en-US" sz="580" dirty="0"/>
          </a:p>
        </p:txBody>
      </p:sp>
      <p:sp>
        <p:nvSpPr>
          <p:cNvPr id="41" name="Text 33"/>
          <p:cNvSpPr/>
          <p:nvPr/>
        </p:nvSpPr>
        <p:spPr>
          <a:xfrm>
            <a:off x="728472" y="4654296"/>
            <a:ext cx="60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1A1A1A"/>
                </a:solidFill>
              </a:rPr>
              <a:t>SharePoint</a:t>
            </a:r>
            <a:endParaRPr lang="en-US" sz="580" dirty="0"/>
          </a:p>
        </p:txBody>
      </p:sp>
      <p:sp>
        <p:nvSpPr>
          <p:cNvPr id="42" name="Shape 34"/>
          <p:cNvSpPr/>
          <p:nvPr/>
        </p:nvSpPr>
        <p:spPr>
          <a:xfrm>
            <a:off x="1993392" y="996696"/>
            <a:ext cx="201168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43" name="Shape 35"/>
          <p:cNvSpPr/>
          <p:nvPr/>
        </p:nvSpPr>
        <p:spPr>
          <a:xfrm>
            <a:off x="1993392" y="2103120"/>
            <a:ext cx="201168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44" name="Shape 36"/>
          <p:cNvSpPr/>
          <p:nvPr/>
        </p:nvSpPr>
        <p:spPr>
          <a:xfrm>
            <a:off x="1993392" y="3063240"/>
            <a:ext cx="201168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45" name="Shape 37"/>
          <p:cNvSpPr/>
          <p:nvPr/>
        </p:nvSpPr>
        <p:spPr>
          <a:xfrm>
            <a:off x="1993392" y="4133088"/>
            <a:ext cx="201168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46" name="Shape 38"/>
          <p:cNvSpPr/>
          <p:nvPr/>
        </p:nvSpPr>
        <p:spPr>
          <a:xfrm>
            <a:off x="2212848" y="438912"/>
            <a:ext cx="7699248" cy="4224528"/>
          </a:xfrm>
          <a:prstGeom prst="rect">
            <a:avLst/>
          </a:prstGeom>
          <a:solidFill>
            <a:srgbClr val="FAFAFE"/>
          </a:solidFill>
          <a:ln w="31750">
            <a:solidFill>
              <a:srgbClr val="5D35B1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2212848" y="438912"/>
            <a:ext cx="7699248" cy="274320"/>
          </a:xfrm>
          <a:prstGeom prst="rect">
            <a:avLst/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4288" y="466344"/>
            <a:ext cx="548640" cy="219456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2898648" y="438912"/>
            <a:ext cx="6327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Intelligence Platform</a:t>
            </a:r>
            <a:endParaRPr lang="en-US" sz="1100" dirty="0"/>
          </a:p>
        </p:txBody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72016" y="466344"/>
            <a:ext cx="548640" cy="219456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2286000" y="749808"/>
            <a:ext cx="7552944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52" name="Text 42"/>
          <p:cNvSpPr/>
          <p:nvPr/>
        </p:nvSpPr>
        <p:spPr>
          <a:xfrm>
            <a:off x="2286000" y="749808"/>
            <a:ext cx="7552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Orchestration</a:t>
            </a:r>
            <a:endParaRPr lang="en-US" sz="800" dirty="0"/>
          </a:p>
        </p:txBody>
      </p:sp>
      <p:sp>
        <p:nvSpPr>
          <p:cNvPr id="53" name="Shape 43"/>
          <p:cNvSpPr/>
          <p:nvPr/>
        </p:nvSpPr>
        <p:spPr>
          <a:xfrm>
            <a:off x="2194560" y="996696"/>
            <a:ext cx="1600200" cy="2724912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F4B000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2286000" y="1042416"/>
            <a:ext cx="1417320" cy="2633472"/>
          </a:xfrm>
          <a:prstGeom prst="rect">
            <a:avLst/>
          </a:prstGeom>
          <a:solidFill>
            <a:srgbClr val="EDE8F9"/>
          </a:solidFill>
          <a:ln w="19050">
            <a:solidFill>
              <a:srgbClr val="5D35B1"/>
            </a:solidFill>
            <a:prstDash val="dash"/>
          </a:ln>
        </p:spPr>
      </p:sp>
      <p:sp>
        <p:nvSpPr>
          <p:cNvPr id="55" name="Text 45"/>
          <p:cNvSpPr/>
          <p:nvPr/>
        </p:nvSpPr>
        <p:spPr>
          <a:xfrm>
            <a:off x="2286000" y="107899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35B1"/>
                </a:solidFill>
              </a:rPr>
              <a:t>Data Ingestion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2450592" y="1353312"/>
            <a:ext cx="256032" cy="256032"/>
          </a:xfrm>
          <a:prstGeom prst="ellipse">
            <a:avLst/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57" name="Text 47"/>
          <p:cNvSpPr/>
          <p:nvPr/>
        </p:nvSpPr>
        <p:spPr>
          <a:xfrm>
            <a:off x="2450592" y="1353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58" name="Shape 48"/>
          <p:cNvSpPr/>
          <p:nvPr/>
        </p:nvSpPr>
        <p:spPr>
          <a:xfrm>
            <a:off x="2633472" y="1389888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D35B1"/>
            </a:solidFill>
            <a:prstDash val="solid"/>
          </a:ln>
        </p:spPr>
      </p:sp>
      <p:sp>
        <p:nvSpPr>
          <p:cNvPr id="59" name="Text 49"/>
          <p:cNvSpPr/>
          <p:nvPr/>
        </p:nvSpPr>
        <p:spPr>
          <a:xfrm>
            <a:off x="2377440" y="188366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Batch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Ingestion</a:t>
            </a:r>
            <a:endParaRPr lang="en-US" sz="700" dirty="0"/>
          </a:p>
        </p:txBody>
      </p:sp>
      <p:sp>
        <p:nvSpPr>
          <p:cNvPr id="60" name="Shape 50"/>
          <p:cNvSpPr/>
          <p:nvPr/>
        </p:nvSpPr>
        <p:spPr>
          <a:xfrm>
            <a:off x="2450592" y="2121408"/>
            <a:ext cx="256032" cy="256032"/>
          </a:xfrm>
          <a:prstGeom prst="ellipse">
            <a:avLst/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61" name="Text 51"/>
          <p:cNvSpPr/>
          <p:nvPr/>
        </p:nvSpPr>
        <p:spPr>
          <a:xfrm>
            <a:off x="2450592" y="21214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62" name="Shape 52"/>
          <p:cNvSpPr/>
          <p:nvPr/>
        </p:nvSpPr>
        <p:spPr>
          <a:xfrm>
            <a:off x="2633472" y="2157984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D35B1"/>
            </a:solidFill>
            <a:prstDash val="solid"/>
          </a:ln>
        </p:spPr>
      </p:sp>
      <p:sp>
        <p:nvSpPr>
          <p:cNvPr id="63" name="Text 53"/>
          <p:cNvSpPr/>
          <p:nvPr/>
        </p:nvSpPr>
        <p:spPr>
          <a:xfrm>
            <a:off x="2377440" y="2651760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CDC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Ingestion</a:t>
            </a:r>
            <a:endParaRPr lang="en-US" sz="700" dirty="0"/>
          </a:p>
        </p:txBody>
      </p:sp>
      <p:sp>
        <p:nvSpPr>
          <p:cNvPr id="64" name="Shape 54"/>
          <p:cNvSpPr/>
          <p:nvPr/>
        </p:nvSpPr>
        <p:spPr>
          <a:xfrm>
            <a:off x="2450592" y="2889504"/>
            <a:ext cx="256032" cy="256032"/>
          </a:xfrm>
          <a:prstGeom prst="ellipse">
            <a:avLst/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2450592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66" name="Shape 56"/>
          <p:cNvSpPr/>
          <p:nvPr/>
        </p:nvSpPr>
        <p:spPr>
          <a:xfrm>
            <a:off x="2633472" y="2926080"/>
            <a:ext cx="475488" cy="47548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5D35B1"/>
            </a:solidFill>
            <a:prstDash val="solid"/>
          </a:ln>
        </p:spPr>
      </p:sp>
      <p:sp>
        <p:nvSpPr>
          <p:cNvPr id="67" name="Text 57"/>
          <p:cNvSpPr/>
          <p:nvPr/>
        </p:nvSpPr>
        <p:spPr>
          <a:xfrm>
            <a:off x="2377440" y="3419856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Streaming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Ingestion</a:t>
            </a:r>
            <a:endParaRPr lang="en-US" sz="700" dirty="0"/>
          </a:p>
        </p:txBody>
      </p:sp>
      <p:sp>
        <p:nvSpPr>
          <p:cNvPr id="68" name="Shape 58"/>
          <p:cNvSpPr/>
          <p:nvPr/>
        </p:nvSpPr>
        <p:spPr>
          <a:xfrm>
            <a:off x="3831336" y="1042416"/>
            <a:ext cx="2194560" cy="228600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69" name="Text 59"/>
          <p:cNvSpPr/>
          <p:nvPr/>
        </p:nvSpPr>
        <p:spPr>
          <a:xfrm>
            <a:off x="3831336" y="104241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ETL</a:t>
            </a:r>
            <a:endParaRPr lang="en-US" sz="800" dirty="0"/>
          </a:p>
        </p:txBody>
      </p:sp>
      <p:sp>
        <p:nvSpPr>
          <p:cNvPr id="70" name="Shape 60"/>
          <p:cNvSpPr/>
          <p:nvPr/>
        </p:nvSpPr>
        <p:spPr>
          <a:xfrm>
            <a:off x="3831336" y="1271016"/>
            <a:ext cx="2194560" cy="101498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3941064" y="1463040"/>
            <a:ext cx="475488" cy="402336"/>
          </a:xfrm>
          <a:prstGeom prst="rect">
            <a:avLst>
              <a:gd name="adj" fmla="val 11364"/>
            </a:avLst>
          </a:prstGeom>
          <a:solidFill>
            <a:srgbClr val="EDE8F9"/>
          </a:solidFill>
          <a:ln w="10160">
            <a:solidFill>
              <a:srgbClr val="5D35B1"/>
            </a:solidFill>
            <a:prstDash val="solid"/>
          </a:ln>
        </p:spPr>
      </p:sp>
      <p:sp>
        <p:nvSpPr>
          <p:cNvPr id="72" name="Text 62"/>
          <p:cNvSpPr/>
          <p:nvPr/>
        </p:nvSpPr>
        <p:spPr>
          <a:xfrm>
            <a:off x="3941064" y="170078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RAW</a:t>
            </a:r>
            <a:endParaRPr lang="en-US" sz="650" dirty="0"/>
          </a:p>
        </p:txBody>
      </p:sp>
      <p:sp>
        <p:nvSpPr>
          <p:cNvPr id="73" name="Shape 63"/>
          <p:cNvSpPr/>
          <p:nvPr/>
        </p:nvSpPr>
        <p:spPr>
          <a:xfrm>
            <a:off x="4672584" y="1463040"/>
            <a:ext cx="475488" cy="402336"/>
          </a:xfrm>
          <a:prstGeom prst="rect">
            <a:avLst>
              <a:gd name="adj" fmla="val 11364"/>
            </a:avLst>
          </a:prstGeom>
          <a:solidFill>
            <a:srgbClr val="EDE8F9"/>
          </a:solidFill>
          <a:ln w="10160">
            <a:solidFill>
              <a:srgbClr val="5D35B1"/>
            </a:solidFill>
            <a:prstDash val="solid"/>
          </a:ln>
        </p:spPr>
      </p:sp>
      <p:sp>
        <p:nvSpPr>
          <p:cNvPr id="74" name="Text 64"/>
          <p:cNvSpPr/>
          <p:nvPr/>
        </p:nvSpPr>
        <p:spPr>
          <a:xfrm>
            <a:off x="4672584" y="170078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ODS</a:t>
            </a:r>
            <a:endParaRPr lang="en-US" sz="650" dirty="0"/>
          </a:p>
        </p:txBody>
      </p:sp>
      <p:sp>
        <p:nvSpPr>
          <p:cNvPr id="75" name="Shape 65"/>
          <p:cNvSpPr/>
          <p:nvPr/>
        </p:nvSpPr>
        <p:spPr>
          <a:xfrm>
            <a:off x="5440680" y="1463040"/>
            <a:ext cx="475488" cy="402336"/>
          </a:xfrm>
          <a:prstGeom prst="rect">
            <a:avLst>
              <a:gd name="adj" fmla="val 11364"/>
            </a:avLst>
          </a:prstGeom>
          <a:solidFill>
            <a:srgbClr val="EDE8F9"/>
          </a:solidFill>
          <a:ln w="10160">
            <a:solidFill>
              <a:srgbClr val="5D35B1"/>
            </a:solidFill>
            <a:prstDash val="solid"/>
          </a:ln>
        </p:spPr>
      </p:sp>
      <p:sp>
        <p:nvSpPr>
          <p:cNvPr id="76" name="Text 66"/>
          <p:cNvSpPr/>
          <p:nvPr/>
        </p:nvSpPr>
        <p:spPr>
          <a:xfrm>
            <a:off x="5440680" y="1700784"/>
            <a:ext cx="4754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Facts</a:t>
            </a:r>
            <a:endParaRPr lang="en-US" sz="650" dirty="0"/>
          </a:p>
        </p:txBody>
      </p:sp>
      <p:sp>
        <p:nvSpPr>
          <p:cNvPr id="77" name="Shape 67"/>
          <p:cNvSpPr/>
          <p:nvPr/>
        </p:nvSpPr>
        <p:spPr>
          <a:xfrm>
            <a:off x="4434840" y="1664208"/>
            <a:ext cx="237744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tailEnd type="arrow"/>
          </a:ln>
        </p:spPr>
      </p:sp>
      <p:sp>
        <p:nvSpPr>
          <p:cNvPr id="78" name="Shape 68"/>
          <p:cNvSpPr/>
          <p:nvPr/>
        </p:nvSpPr>
        <p:spPr>
          <a:xfrm>
            <a:off x="5184648" y="1627632"/>
            <a:ext cx="256032" cy="9144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tailEnd type="arrow"/>
          </a:ln>
        </p:spPr>
      </p:sp>
      <p:sp>
        <p:nvSpPr>
          <p:cNvPr id="79" name="Shape 69"/>
          <p:cNvSpPr/>
          <p:nvPr/>
        </p:nvSpPr>
        <p:spPr>
          <a:xfrm>
            <a:off x="4928616" y="2286000"/>
            <a:ext cx="0" cy="201168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pic>
        <p:nvPicPr>
          <p:cNvPr id="80" name="Image 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7256" y="1298448"/>
            <a:ext cx="457200" cy="164592"/>
          </a:xfrm>
          <a:prstGeom prst="rect">
            <a:avLst/>
          </a:prstGeom>
        </p:spPr>
      </p:pic>
      <p:sp>
        <p:nvSpPr>
          <p:cNvPr id="81" name="Shape 70"/>
          <p:cNvSpPr/>
          <p:nvPr/>
        </p:nvSpPr>
        <p:spPr>
          <a:xfrm>
            <a:off x="3831336" y="2487168"/>
            <a:ext cx="2194560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82" name="Text 71"/>
          <p:cNvSpPr/>
          <p:nvPr/>
        </p:nvSpPr>
        <p:spPr>
          <a:xfrm>
            <a:off x="3831336" y="24871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Data Warehouse</a:t>
            </a:r>
            <a:endParaRPr lang="en-US" sz="800" dirty="0"/>
          </a:p>
        </p:txBody>
      </p:sp>
      <p:sp>
        <p:nvSpPr>
          <p:cNvPr id="83" name="Shape 72"/>
          <p:cNvSpPr/>
          <p:nvPr/>
        </p:nvSpPr>
        <p:spPr>
          <a:xfrm>
            <a:off x="3831336" y="2724912"/>
            <a:ext cx="2194560" cy="5120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4" name="Shape 73"/>
          <p:cNvSpPr/>
          <p:nvPr/>
        </p:nvSpPr>
        <p:spPr>
          <a:xfrm>
            <a:off x="3959352" y="2779776"/>
            <a:ext cx="1938528" cy="274320"/>
          </a:xfrm>
          <a:prstGeom prst="rect">
            <a:avLst>
              <a:gd name="adj" fmla="val 20000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pic>
        <p:nvPicPr>
          <p:cNvPr id="85" name="Image 9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32504" y="2807208"/>
            <a:ext cx="182880" cy="182880"/>
          </a:xfrm>
          <a:prstGeom prst="rect">
            <a:avLst/>
          </a:prstGeom>
        </p:spPr>
      </p:pic>
      <p:sp>
        <p:nvSpPr>
          <p:cNvPr id="86" name="Text 74"/>
          <p:cNvSpPr/>
          <p:nvPr/>
        </p:nvSpPr>
        <p:spPr>
          <a:xfrm>
            <a:off x="4251960" y="2779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Databricks SQL</a:t>
            </a:r>
            <a:endParaRPr lang="en-US" sz="750" dirty="0"/>
          </a:p>
        </p:txBody>
      </p:sp>
      <p:sp>
        <p:nvSpPr>
          <p:cNvPr id="87" name="Text 75"/>
          <p:cNvSpPr/>
          <p:nvPr/>
        </p:nvSpPr>
        <p:spPr>
          <a:xfrm>
            <a:off x="3922776" y="3081528"/>
            <a:ext cx="20116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i="1" dirty="0">
                <a:solidFill>
                  <a:srgbClr val="888888"/>
                </a:solidFill>
              </a:rPr>
              <a:t>Best-in-class DW performance</a:t>
            </a:r>
            <a:endParaRPr lang="en-US" sz="550" dirty="0"/>
          </a:p>
        </p:txBody>
      </p:sp>
      <p:sp>
        <p:nvSpPr>
          <p:cNvPr id="88" name="Shape 76"/>
          <p:cNvSpPr/>
          <p:nvPr/>
        </p:nvSpPr>
        <p:spPr>
          <a:xfrm>
            <a:off x="3831336" y="3364992"/>
            <a:ext cx="2194560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89" name="Text 77"/>
          <p:cNvSpPr/>
          <p:nvPr/>
        </p:nvSpPr>
        <p:spPr>
          <a:xfrm>
            <a:off x="3831336" y="33649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Agent Systems</a:t>
            </a:r>
            <a:endParaRPr lang="en-US" sz="800" dirty="0"/>
          </a:p>
        </p:txBody>
      </p:sp>
      <p:sp>
        <p:nvSpPr>
          <p:cNvPr id="90" name="Shape 78"/>
          <p:cNvSpPr/>
          <p:nvPr/>
        </p:nvSpPr>
        <p:spPr>
          <a:xfrm>
            <a:off x="3831336" y="3602736"/>
            <a:ext cx="2194560" cy="96926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dash"/>
          </a:ln>
        </p:spPr>
      </p:sp>
      <p:pic>
        <p:nvPicPr>
          <p:cNvPr id="91" name="Image 10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50408" y="3639312"/>
            <a:ext cx="402336" cy="329184"/>
          </a:xfrm>
          <a:prstGeom prst="rect">
            <a:avLst/>
          </a:prstGeom>
        </p:spPr>
      </p:pic>
      <p:sp>
        <p:nvSpPr>
          <p:cNvPr id="92" name="Shape 79"/>
          <p:cNvSpPr/>
          <p:nvPr/>
        </p:nvSpPr>
        <p:spPr>
          <a:xfrm>
            <a:off x="3904488" y="3675888"/>
            <a:ext cx="786384" cy="219456"/>
          </a:xfrm>
          <a:prstGeom prst="rect">
            <a:avLst>
              <a:gd name="adj" fmla="val 33333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93" name="Text 80"/>
          <p:cNvSpPr/>
          <p:nvPr/>
        </p:nvSpPr>
        <p:spPr>
          <a:xfrm>
            <a:off x="3904488" y="3675888"/>
            <a:ext cx="78638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Prepare data</a:t>
            </a:r>
            <a:endParaRPr lang="en-US" sz="550" dirty="0"/>
          </a:p>
        </p:txBody>
      </p:sp>
      <p:sp>
        <p:nvSpPr>
          <p:cNvPr id="94" name="Shape 81"/>
          <p:cNvSpPr/>
          <p:nvPr/>
        </p:nvSpPr>
        <p:spPr>
          <a:xfrm>
            <a:off x="5148072" y="3675888"/>
            <a:ext cx="786384" cy="219456"/>
          </a:xfrm>
          <a:prstGeom prst="rect">
            <a:avLst>
              <a:gd name="adj" fmla="val 33333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95" name="Text 82"/>
          <p:cNvSpPr/>
          <p:nvPr/>
        </p:nvSpPr>
        <p:spPr>
          <a:xfrm>
            <a:off x="5148072" y="3675888"/>
            <a:ext cx="78638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Build agents</a:t>
            </a:r>
            <a:endParaRPr lang="en-US" sz="550" dirty="0"/>
          </a:p>
        </p:txBody>
      </p:sp>
      <p:sp>
        <p:nvSpPr>
          <p:cNvPr id="96" name="Shape 83"/>
          <p:cNvSpPr/>
          <p:nvPr/>
        </p:nvSpPr>
        <p:spPr>
          <a:xfrm>
            <a:off x="3904488" y="3950208"/>
            <a:ext cx="786384" cy="219456"/>
          </a:xfrm>
          <a:prstGeom prst="rect">
            <a:avLst>
              <a:gd name="adj" fmla="val 33333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97" name="Text 84"/>
          <p:cNvSpPr/>
          <p:nvPr/>
        </p:nvSpPr>
        <p:spPr>
          <a:xfrm>
            <a:off x="3904488" y="3950208"/>
            <a:ext cx="78638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Evaluate agents</a:t>
            </a:r>
            <a:endParaRPr lang="en-US" sz="550" dirty="0"/>
          </a:p>
        </p:txBody>
      </p:sp>
      <p:sp>
        <p:nvSpPr>
          <p:cNvPr id="98" name="Shape 85"/>
          <p:cNvSpPr/>
          <p:nvPr/>
        </p:nvSpPr>
        <p:spPr>
          <a:xfrm>
            <a:off x="5148072" y="3950208"/>
            <a:ext cx="786384" cy="219456"/>
          </a:xfrm>
          <a:prstGeom prst="rect">
            <a:avLst>
              <a:gd name="adj" fmla="val 33333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99" name="Text 86"/>
          <p:cNvSpPr/>
          <p:nvPr/>
        </p:nvSpPr>
        <p:spPr>
          <a:xfrm>
            <a:off x="5148072" y="3950208"/>
            <a:ext cx="78638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Deploy agents</a:t>
            </a:r>
            <a:endParaRPr lang="en-US" sz="550" dirty="0"/>
          </a:p>
        </p:txBody>
      </p:sp>
      <p:sp>
        <p:nvSpPr>
          <p:cNvPr id="100" name="Shape 87"/>
          <p:cNvSpPr/>
          <p:nvPr/>
        </p:nvSpPr>
        <p:spPr>
          <a:xfrm>
            <a:off x="4526280" y="4224528"/>
            <a:ext cx="786384" cy="219456"/>
          </a:xfrm>
          <a:prstGeom prst="rect">
            <a:avLst>
              <a:gd name="adj" fmla="val 33333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01" name="Text 88"/>
          <p:cNvSpPr/>
          <p:nvPr/>
        </p:nvSpPr>
        <p:spPr>
          <a:xfrm>
            <a:off x="4526280" y="4224528"/>
            <a:ext cx="78638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</a:rPr>
              <a:t>Govern agents</a:t>
            </a:r>
            <a:endParaRPr lang="en-US" sz="550" dirty="0"/>
          </a:p>
        </p:txBody>
      </p:sp>
      <p:sp>
        <p:nvSpPr>
          <p:cNvPr id="102" name="Shape 89"/>
          <p:cNvSpPr/>
          <p:nvPr/>
        </p:nvSpPr>
        <p:spPr>
          <a:xfrm>
            <a:off x="6153912" y="1042416"/>
            <a:ext cx="3685032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03" name="Text 90"/>
          <p:cNvSpPr/>
          <p:nvPr/>
        </p:nvSpPr>
        <p:spPr>
          <a:xfrm>
            <a:off x="6153912" y="1042416"/>
            <a:ext cx="3685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Streaming analytics</a:t>
            </a:r>
            <a:endParaRPr lang="en-US" sz="700" dirty="0"/>
          </a:p>
        </p:txBody>
      </p:sp>
      <p:sp>
        <p:nvSpPr>
          <p:cNvPr id="104" name="Shape 91"/>
          <p:cNvSpPr/>
          <p:nvPr/>
        </p:nvSpPr>
        <p:spPr>
          <a:xfrm>
            <a:off x="6153912" y="1280160"/>
            <a:ext cx="3685032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05" name="Shape 92"/>
          <p:cNvSpPr/>
          <p:nvPr/>
        </p:nvSpPr>
        <p:spPr>
          <a:xfrm>
            <a:off x="6281928" y="1353312"/>
            <a:ext cx="31089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06" name="Text 93"/>
          <p:cNvSpPr/>
          <p:nvPr/>
        </p:nvSpPr>
        <p:spPr>
          <a:xfrm>
            <a:off x="6281928" y="1353312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SA</a:t>
            </a:r>
            <a:endParaRPr lang="en-US" sz="650" dirty="0"/>
          </a:p>
        </p:txBody>
      </p:sp>
      <p:sp>
        <p:nvSpPr>
          <p:cNvPr id="107" name="Shape 94"/>
          <p:cNvSpPr/>
          <p:nvPr/>
        </p:nvSpPr>
        <p:spPr>
          <a:xfrm>
            <a:off x="6153912" y="1755648"/>
            <a:ext cx="3685032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08" name="Text 95"/>
          <p:cNvSpPr/>
          <p:nvPr/>
        </p:nvSpPr>
        <p:spPr>
          <a:xfrm>
            <a:off x="6153912" y="1755648"/>
            <a:ext cx="3685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BI &amp; reporting</a:t>
            </a:r>
            <a:endParaRPr lang="en-US" sz="700" dirty="0"/>
          </a:p>
        </p:txBody>
      </p:sp>
      <p:sp>
        <p:nvSpPr>
          <p:cNvPr id="109" name="Shape 96"/>
          <p:cNvSpPr/>
          <p:nvPr/>
        </p:nvSpPr>
        <p:spPr>
          <a:xfrm>
            <a:off x="6153912" y="1993392"/>
            <a:ext cx="3685032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0" name="Shape 97"/>
          <p:cNvSpPr/>
          <p:nvPr/>
        </p:nvSpPr>
        <p:spPr>
          <a:xfrm>
            <a:off x="6281928" y="2066544"/>
            <a:ext cx="31089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11" name="Text 98"/>
          <p:cNvSpPr/>
          <p:nvPr/>
        </p:nvSpPr>
        <p:spPr>
          <a:xfrm>
            <a:off x="6281928" y="2066544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BI</a:t>
            </a:r>
            <a:endParaRPr lang="en-US" sz="650" dirty="0"/>
          </a:p>
        </p:txBody>
      </p:sp>
      <p:sp>
        <p:nvSpPr>
          <p:cNvPr id="112" name="Shape 99"/>
          <p:cNvSpPr/>
          <p:nvPr/>
        </p:nvSpPr>
        <p:spPr>
          <a:xfrm>
            <a:off x="6153912" y="2468880"/>
            <a:ext cx="3685032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13" name="Text 100"/>
          <p:cNvSpPr/>
          <p:nvPr/>
        </p:nvSpPr>
        <p:spPr>
          <a:xfrm>
            <a:off x="6153912" y="2468880"/>
            <a:ext cx="3685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sharing &amp; Marketplace</a:t>
            </a:r>
            <a:endParaRPr lang="en-US" sz="700" dirty="0"/>
          </a:p>
        </p:txBody>
      </p:sp>
      <p:sp>
        <p:nvSpPr>
          <p:cNvPr id="114" name="Shape 101"/>
          <p:cNvSpPr/>
          <p:nvPr/>
        </p:nvSpPr>
        <p:spPr>
          <a:xfrm>
            <a:off x="6153912" y="2706624"/>
            <a:ext cx="3685032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5" name="Shape 102"/>
          <p:cNvSpPr/>
          <p:nvPr/>
        </p:nvSpPr>
        <p:spPr>
          <a:xfrm>
            <a:off x="6281928" y="2779776"/>
            <a:ext cx="31089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16" name="Text 103"/>
          <p:cNvSpPr/>
          <p:nvPr/>
        </p:nvSpPr>
        <p:spPr>
          <a:xfrm>
            <a:off x="6281928" y="2779776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DS</a:t>
            </a:r>
            <a:endParaRPr lang="en-US" sz="650" dirty="0"/>
          </a:p>
        </p:txBody>
      </p:sp>
      <p:sp>
        <p:nvSpPr>
          <p:cNvPr id="117" name="Shape 104"/>
          <p:cNvSpPr/>
          <p:nvPr/>
        </p:nvSpPr>
        <p:spPr>
          <a:xfrm>
            <a:off x="6153912" y="3182112"/>
            <a:ext cx="3685032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18" name="Text 105"/>
          <p:cNvSpPr/>
          <p:nvPr/>
        </p:nvSpPr>
        <p:spPr>
          <a:xfrm>
            <a:off x="6153912" y="3182112"/>
            <a:ext cx="3685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AI Applications</a:t>
            </a:r>
            <a:endParaRPr lang="en-US" sz="700" dirty="0"/>
          </a:p>
        </p:txBody>
      </p:sp>
      <p:sp>
        <p:nvSpPr>
          <p:cNvPr id="119" name="Shape 106"/>
          <p:cNvSpPr/>
          <p:nvPr/>
        </p:nvSpPr>
        <p:spPr>
          <a:xfrm>
            <a:off x="6153912" y="3419856"/>
            <a:ext cx="3685032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0" name="Shape 107"/>
          <p:cNvSpPr/>
          <p:nvPr/>
        </p:nvSpPr>
        <p:spPr>
          <a:xfrm>
            <a:off x="6281928" y="3493008"/>
            <a:ext cx="31089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21" name="Text 108"/>
          <p:cNvSpPr/>
          <p:nvPr/>
        </p:nvSpPr>
        <p:spPr>
          <a:xfrm>
            <a:off x="6281928" y="3493008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AI</a:t>
            </a:r>
            <a:endParaRPr lang="en-US" sz="650" dirty="0"/>
          </a:p>
        </p:txBody>
      </p:sp>
      <p:sp>
        <p:nvSpPr>
          <p:cNvPr id="122" name="Shape 109"/>
          <p:cNvSpPr/>
          <p:nvPr/>
        </p:nvSpPr>
        <p:spPr>
          <a:xfrm>
            <a:off x="6153912" y="3895344"/>
            <a:ext cx="3685032" cy="237744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</p:spPr>
      </p:sp>
      <p:sp>
        <p:nvSpPr>
          <p:cNvPr id="123" name="Text 110"/>
          <p:cNvSpPr/>
          <p:nvPr/>
        </p:nvSpPr>
        <p:spPr>
          <a:xfrm>
            <a:off x="6153912" y="3895344"/>
            <a:ext cx="3685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Apps</a:t>
            </a:r>
            <a:endParaRPr lang="en-US" sz="700" dirty="0"/>
          </a:p>
        </p:txBody>
      </p:sp>
      <p:sp>
        <p:nvSpPr>
          <p:cNvPr id="124" name="Shape 111"/>
          <p:cNvSpPr/>
          <p:nvPr/>
        </p:nvSpPr>
        <p:spPr>
          <a:xfrm>
            <a:off x="6153912" y="4133088"/>
            <a:ext cx="3685032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25" name="Shape 112"/>
          <p:cNvSpPr/>
          <p:nvPr/>
        </p:nvSpPr>
        <p:spPr>
          <a:xfrm>
            <a:off x="6281928" y="4206240"/>
            <a:ext cx="310896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26" name="Text 113"/>
          <p:cNvSpPr/>
          <p:nvPr/>
        </p:nvSpPr>
        <p:spPr>
          <a:xfrm>
            <a:off x="6281928" y="4206240"/>
            <a:ext cx="3108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D35B1"/>
                </a:solidFill>
              </a:rPr>
              <a:t>AP</a:t>
            </a:r>
            <a:endParaRPr lang="en-US" sz="650" dirty="0"/>
          </a:p>
        </p:txBody>
      </p:sp>
      <p:sp>
        <p:nvSpPr>
          <p:cNvPr id="127" name="Shape 114"/>
          <p:cNvSpPr/>
          <p:nvPr/>
        </p:nvSpPr>
        <p:spPr>
          <a:xfrm>
            <a:off x="3703320" y="1463040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28" name="Shape 115"/>
          <p:cNvSpPr/>
          <p:nvPr/>
        </p:nvSpPr>
        <p:spPr>
          <a:xfrm>
            <a:off x="3703320" y="2871216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29" name="Shape 116"/>
          <p:cNvSpPr/>
          <p:nvPr/>
        </p:nvSpPr>
        <p:spPr>
          <a:xfrm>
            <a:off x="3703320" y="3913632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30" name="Shape 117"/>
          <p:cNvSpPr/>
          <p:nvPr/>
        </p:nvSpPr>
        <p:spPr>
          <a:xfrm>
            <a:off x="6025896" y="1371600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31" name="Shape 118"/>
          <p:cNvSpPr/>
          <p:nvPr/>
        </p:nvSpPr>
        <p:spPr>
          <a:xfrm>
            <a:off x="6025896" y="2084832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32" name="Shape 119"/>
          <p:cNvSpPr/>
          <p:nvPr/>
        </p:nvSpPr>
        <p:spPr>
          <a:xfrm>
            <a:off x="6025896" y="2798064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33" name="Shape 120"/>
          <p:cNvSpPr/>
          <p:nvPr/>
        </p:nvSpPr>
        <p:spPr>
          <a:xfrm>
            <a:off x="6025896" y="3511296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34" name="Shape 121"/>
          <p:cNvSpPr/>
          <p:nvPr/>
        </p:nvSpPr>
        <p:spPr>
          <a:xfrm>
            <a:off x="6025896" y="4224528"/>
            <a:ext cx="128016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35" name="Shape 122"/>
          <p:cNvSpPr/>
          <p:nvPr/>
        </p:nvSpPr>
        <p:spPr>
          <a:xfrm>
            <a:off x="2212848" y="4754880"/>
            <a:ext cx="7699248" cy="9144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2212848" y="4791456"/>
            <a:ext cx="7699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Unified, Open and Scalable Lakehouse</a:t>
            </a:r>
            <a:endParaRPr lang="en-US" sz="900" dirty="0"/>
          </a:p>
        </p:txBody>
      </p:sp>
      <p:sp>
        <p:nvSpPr>
          <p:cNvPr id="137" name="Shape 124"/>
          <p:cNvSpPr/>
          <p:nvPr/>
        </p:nvSpPr>
        <p:spPr>
          <a:xfrm>
            <a:off x="2304288" y="5029200"/>
            <a:ext cx="3685032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8" name="Text 125"/>
          <p:cNvSpPr/>
          <p:nvPr/>
        </p:nvSpPr>
        <p:spPr>
          <a:xfrm>
            <a:off x="2322576" y="5029200"/>
            <a:ext cx="3648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A1A1A"/>
                </a:solidFill>
              </a:rPr>
              <a:t>Governance, Security, Observability, Interoperability, Sharing</a:t>
            </a:r>
            <a:endParaRPr lang="en-US" sz="550" dirty="0"/>
          </a:p>
        </p:txBody>
      </p:sp>
      <p:pic>
        <p:nvPicPr>
          <p:cNvPr id="139" name="Image 11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35324" y="5212080"/>
            <a:ext cx="201168" cy="201168"/>
          </a:xfrm>
          <a:prstGeom prst="rect">
            <a:avLst/>
          </a:prstGeom>
        </p:spPr>
      </p:pic>
      <p:sp>
        <p:nvSpPr>
          <p:cNvPr id="140" name="Text 126"/>
          <p:cNvSpPr/>
          <p:nvPr/>
        </p:nvSpPr>
        <p:spPr>
          <a:xfrm>
            <a:off x="3973068" y="5193792"/>
            <a:ext cx="33009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D35B1"/>
                </a:solidFill>
              </a:rPr>
              <a:t>Unity Catalog</a:t>
            </a:r>
            <a:endParaRPr lang="en-US" sz="1000" dirty="0"/>
          </a:p>
        </p:txBody>
      </p:sp>
      <p:sp>
        <p:nvSpPr>
          <p:cNvPr id="141" name="Shape 127"/>
          <p:cNvSpPr/>
          <p:nvPr/>
        </p:nvSpPr>
        <p:spPr>
          <a:xfrm>
            <a:off x="6135624" y="5029200"/>
            <a:ext cx="3685032" cy="566928"/>
          </a:xfrm>
          <a:prstGeom prst="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2" name="Text 128"/>
          <p:cNvSpPr/>
          <p:nvPr/>
        </p:nvSpPr>
        <p:spPr>
          <a:xfrm>
            <a:off x="6153912" y="5029200"/>
            <a:ext cx="36484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A1A1A"/>
                </a:solidFill>
              </a:rPr>
              <a:t>Universal, Open Storage</a:t>
            </a:r>
            <a:endParaRPr lang="en-US" sz="550" dirty="0"/>
          </a:p>
        </p:txBody>
      </p:sp>
      <p:sp>
        <p:nvSpPr>
          <p:cNvPr id="143" name="Shape 129"/>
          <p:cNvSpPr/>
          <p:nvPr/>
        </p:nvSpPr>
        <p:spPr>
          <a:xfrm>
            <a:off x="6227064" y="5212080"/>
            <a:ext cx="1170432" cy="310896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pic>
        <p:nvPicPr>
          <p:cNvPr id="144" name="Image 12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36792" y="5248656"/>
            <a:ext cx="950976" cy="201168"/>
          </a:xfrm>
          <a:prstGeom prst="rect">
            <a:avLst/>
          </a:prstGeom>
        </p:spPr>
      </p:pic>
      <p:sp>
        <p:nvSpPr>
          <p:cNvPr id="145" name="Shape 130"/>
          <p:cNvSpPr/>
          <p:nvPr/>
        </p:nvSpPr>
        <p:spPr>
          <a:xfrm>
            <a:off x="7525512" y="5230368"/>
            <a:ext cx="1170432" cy="274320"/>
          </a:xfrm>
          <a:prstGeom prst="rect">
            <a:avLst>
              <a:gd name="adj" fmla="val 26667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46" name="Text 131"/>
          <p:cNvSpPr/>
          <p:nvPr/>
        </p:nvSpPr>
        <p:spPr>
          <a:xfrm>
            <a:off x="7525512" y="5230368"/>
            <a:ext cx="117043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Parquet</a:t>
            </a:r>
            <a:endParaRPr lang="en-US" sz="800" dirty="0"/>
          </a:p>
        </p:txBody>
      </p:sp>
      <p:sp>
        <p:nvSpPr>
          <p:cNvPr id="147" name="Shape 132"/>
          <p:cNvSpPr/>
          <p:nvPr/>
        </p:nvSpPr>
        <p:spPr>
          <a:xfrm>
            <a:off x="8823960" y="5230368"/>
            <a:ext cx="1170432" cy="274320"/>
          </a:xfrm>
          <a:prstGeom prst="rect">
            <a:avLst>
              <a:gd name="adj" fmla="val 26667"/>
            </a:avLst>
          </a:prstGeom>
          <a:solidFill>
            <a:srgbClr val="5D35B1"/>
          </a:solidFill>
          <a:ln w="12700">
            <a:solidFill>
              <a:srgbClr val="5D35B1"/>
            </a:solidFill>
            <a:prstDash val="solid"/>
          </a:ln>
        </p:spPr>
      </p:sp>
      <p:sp>
        <p:nvSpPr>
          <p:cNvPr id="148" name="Text 133"/>
          <p:cNvSpPr/>
          <p:nvPr/>
        </p:nvSpPr>
        <p:spPr>
          <a:xfrm>
            <a:off x="8823960" y="5230368"/>
            <a:ext cx="1170432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Iceberg</a:t>
            </a:r>
            <a:endParaRPr lang="en-US" sz="800" dirty="0"/>
          </a:p>
        </p:txBody>
      </p:sp>
      <p:sp>
        <p:nvSpPr>
          <p:cNvPr id="149" name="Shape 134"/>
          <p:cNvSpPr/>
          <p:nvPr/>
        </p:nvSpPr>
        <p:spPr>
          <a:xfrm>
            <a:off x="9957816" y="1371600"/>
            <a:ext cx="1371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50" name="Shape 135"/>
          <p:cNvSpPr/>
          <p:nvPr/>
        </p:nvSpPr>
        <p:spPr>
          <a:xfrm>
            <a:off x="10094976" y="1161288"/>
            <a:ext cx="1883664" cy="420624"/>
          </a:xfrm>
          <a:prstGeom prst="rect">
            <a:avLst>
              <a:gd name="adj" fmla="val 8696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1" name="Text 136"/>
          <p:cNvSpPr/>
          <p:nvPr/>
        </p:nvSpPr>
        <p:spPr>
          <a:xfrm>
            <a:off x="10168128" y="1161288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Customer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Churn Prediction</a:t>
            </a:r>
            <a:endParaRPr lang="en-US" sz="650" dirty="0"/>
          </a:p>
        </p:txBody>
      </p:sp>
      <p:sp>
        <p:nvSpPr>
          <p:cNvPr id="152" name="Shape 137"/>
          <p:cNvSpPr/>
          <p:nvPr/>
        </p:nvSpPr>
        <p:spPr>
          <a:xfrm>
            <a:off x="9957816" y="2084832"/>
            <a:ext cx="1371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53" name="Shape 138"/>
          <p:cNvSpPr/>
          <p:nvPr/>
        </p:nvSpPr>
        <p:spPr>
          <a:xfrm>
            <a:off x="10094976" y="1874520"/>
            <a:ext cx="1883664" cy="420624"/>
          </a:xfrm>
          <a:prstGeom prst="rect">
            <a:avLst>
              <a:gd name="adj" fmla="val 8696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4" name="Text 139"/>
          <p:cNvSpPr/>
          <p:nvPr/>
        </p:nvSpPr>
        <p:spPr>
          <a:xfrm>
            <a:off x="10168128" y="1874520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Customer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Segmentation</a:t>
            </a:r>
            <a:endParaRPr lang="en-US" sz="650" dirty="0"/>
          </a:p>
        </p:txBody>
      </p:sp>
      <p:sp>
        <p:nvSpPr>
          <p:cNvPr id="155" name="Shape 140"/>
          <p:cNvSpPr/>
          <p:nvPr/>
        </p:nvSpPr>
        <p:spPr>
          <a:xfrm>
            <a:off x="9957816" y="2798064"/>
            <a:ext cx="1371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56" name="Shape 141"/>
          <p:cNvSpPr/>
          <p:nvPr/>
        </p:nvSpPr>
        <p:spPr>
          <a:xfrm>
            <a:off x="10094976" y="2587752"/>
            <a:ext cx="1883664" cy="420624"/>
          </a:xfrm>
          <a:prstGeom prst="rect">
            <a:avLst>
              <a:gd name="adj" fmla="val 8696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7" name="Text 142"/>
          <p:cNvSpPr/>
          <p:nvPr/>
        </p:nvSpPr>
        <p:spPr>
          <a:xfrm>
            <a:off x="10168128" y="2587752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HR Analytics</a:t>
            </a:r>
            <a:endParaRPr lang="en-US" sz="650" dirty="0"/>
          </a:p>
        </p:txBody>
      </p:sp>
      <p:sp>
        <p:nvSpPr>
          <p:cNvPr id="158" name="Shape 143"/>
          <p:cNvSpPr/>
          <p:nvPr/>
        </p:nvSpPr>
        <p:spPr>
          <a:xfrm>
            <a:off x="9957816" y="3511296"/>
            <a:ext cx="1371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59" name="Shape 144"/>
          <p:cNvSpPr/>
          <p:nvPr/>
        </p:nvSpPr>
        <p:spPr>
          <a:xfrm>
            <a:off x="10094976" y="3300984"/>
            <a:ext cx="1883664" cy="420624"/>
          </a:xfrm>
          <a:prstGeom prst="rect">
            <a:avLst>
              <a:gd name="adj" fmla="val 8696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0" name="Text 145"/>
          <p:cNvSpPr/>
          <p:nvPr/>
        </p:nvSpPr>
        <p:spPr>
          <a:xfrm>
            <a:off x="10168128" y="3300984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Operational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Dashboards</a:t>
            </a:r>
            <a:endParaRPr lang="en-US" sz="650" dirty="0"/>
          </a:p>
        </p:txBody>
      </p:sp>
      <p:sp>
        <p:nvSpPr>
          <p:cNvPr id="161" name="Shape 146"/>
          <p:cNvSpPr/>
          <p:nvPr/>
        </p:nvSpPr>
        <p:spPr>
          <a:xfrm>
            <a:off x="9957816" y="4224528"/>
            <a:ext cx="137160" cy="0"/>
          </a:xfrm>
          <a:prstGeom prst="line">
            <a:avLst/>
          </a:prstGeom>
          <a:noFill/>
          <a:ln w="15240">
            <a:solidFill>
              <a:srgbClr val="1A1A1A"/>
            </a:solidFill>
            <a:prstDash val="solid"/>
            <a:tailEnd type="arrow"/>
          </a:ln>
        </p:spPr>
      </p:sp>
      <p:sp>
        <p:nvSpPr>
          <p:cNvPr id="162" name="Shape 147"/>
          <p:cNvSpPr/>
          <p:nvPr/>
        </p:nvSpPr>
        <p:spPr>
          <a:xfrm>
            <a:off x="10094976" y="4014216"/>
            <a:ext cx="1883664" cy="420624"/>
          </a:xfrm>
          <a:prstGeom prst="rect">
            <a:avLst>
              <a:gd name="adj" fmla="val 8696"/>
            </a:avLst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3" name="Text 148"/>
          <p:cNvSpPr/>
          <p:nvPr/>
        </p:nvSpPr>
        <p:spPr>
          <a:xfrm>
            <a:off x="10168128" y="4014216"/>
            <a:ext cx="17922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Risk Assessment</a:t>
            </a:r>
            <a:endParaRPr lang="en-US" sz="650" dirty="0"/>
          </a:p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</a:rPr>
              <a:t>&amp; Optimization</a:t>
            </a:r>
            <a:endParaRPr lang="en-US" sz="650" dirty="0"/>
          </a:p>
        </p:txBody>
      </p:sp>
      <p:sp>
        <p:nvSpPr>
          <p:cNvPr id="164" name="Text 149"/>
          <p:cNvSpPr/>
          <p:nvPr/>
        </p:nvSpPr>
        <p:spPr>
          <a:xfrm>
            <a:off x="109728" y="65836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</a:rPr>
              <a:t>© 2026 Marionete</a:t>
            </a:r>
            <a:endParaRPr lang="en-US" sz="600" dirty="0"/>
          </a:p>
        </p:txBody>
      </p:sp>
      <p:sp>
        <p:nvSpPr>
          <p:cNvPr id="165" name="Text 150"/>
          <p:cNvSpPr/>
          <p:nvPr/>
        </p:nvSpPr>
        <p:spPr>
          <a:xfrm>
            <a:off x="5852160" y="65836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D35B1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2026-03-07T22:30:30Z</dcterms:created>
  <dcterms:modified xsi:type="dcterms:W3CDTF">2026-03-07T22:30:30Z</dcterms:modified>
</cp:coreProperties>
</file>