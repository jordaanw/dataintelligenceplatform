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sv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" y="73152"/>
            <a:ext cx="1188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35B1"/>
                </a:solidFill>
              </a:rPr>
              <a:t>Data Intelligence Platform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3152" y="438912"/>
            <a:ext cx="1920240" cy="228600"/>
          </a:xfrm>
          <a:prstGeom prst="rect">
            <a:avLst/>
          </a:prstGeom>
          <a:solidFill>
            <a:srgbClr val="1A7A5E"/>
          </a:solidFill>
          <a:ln w="12700">
            <a:solidFill>
              <a:srgbClr val="1A7A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" y="438912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Message Store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73152" y="667512"/>
            <a:ext cx="1920240" cy="1353312"/>
          </a:xfrm>
          <a:prstGeom prst="rect">
            <a:avLst/>
          </a:prstGeom>
          <a:solidFill>
            <a:srgbClr val="E8F5F0"/>
          </a:solidFill>
          <a:ln w="9525">
            <a:solidFill>
              <a:srgbClr val="1A7A5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936" y="758952"/>
            <a:ext cx="347472" cy="347472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758952"/>
            <a:ext cx="347472" cy="3474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38072" y="722376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Pulsar</a:t>
            </a:r>
            <a:endParaRPr lang="en-US" sz="580" dirty="0"/>
          </a:p>
        </p:txBody>
      </p:sp>
      <p:sp>
        <p:nvSpPr>
          <p:cNvPr id="9" name="Text 5"/>
          <p:cNvSpPr/>
          <p:nvPr/>
        </p:nvSpPr>
        <p:spPr>
          <a:xfrm>
            <a:off x="118872" y="1143000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Amazon MSK</a:t>
            </a:r>
            <a:endParaRPr lang="en-US" sz="580" dirty="0"/>
          </a:p>
        </p:txBody>
      </p:sp>
      <p:sp>
        <p:nvSpPr>
          <p:cNvPr id="10" name="Text 6"/>
          <p:cNvSpPr/>
          <p:nvPr/>
        </p:nvSpPr>
        <p:spPr>
          <a:xfrm>
            <a:off x="728472" y="1143000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Kinesis</a:t>
            </a:r>
            <a:endParaRPr lang="en-US" sz="580" dirty="0"/>
          </a:p>
        </p:txBody>
      </p:sp>
      <p:sp>
        <p:nvSpPr>
          <p:cNvPr id="11" name="Text 7"/>
          <p:cNvSpPr/>
          <p:nvPr/>
        </p:nvSpPr>
        <p:spPr>
          <a:xfrm>
            <a:off x="1338072" y="1143000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Azure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Event Hubs</a:t>
            </a:r>
            <a:endParaRPr lang="en-US" sz="580" dirty="0"/>
          </a:p>
        </p:txBody>
      </p:sp>
      <p:sp>
        <p:nvSpPr>
          <p:cNvPr id="12" name="Text 8"/>
          <p:cNvSpPr/>
          <p:nvPr/>
        </p:nvSpPr>
        <p:spPr>
          <a:xfrm>
            <a:off x="118872" y="1563624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GCP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Pub/Sub</a:t>
            </a:r>
            <a:endParaRPr lang="en-US" sz="580" dirty="0"/>
          </a:p>
        </p:txBody>
      </p:sp>
      <p:sp>
        <p:nvSpPr>
          <p:cNvPr id="13" name="Shape 9"/>
          <p:cNvSpPr/>
          <p:nvPr/>
        </p:nvSpPr>
        <p:spPr>
          <a:xfrm>
            <a:off x="73152" y="2075688"/>
            <a:ext cx="1920240" cy="228600"/>
          </a:xfrm>
          <a:prstGeom prst="rect">
            <a:avLst/>
          </a:prstGeom>
          <a:solidFill>
            <a:srgbClr val="1A7A5E"/>
          </a:solidFill>
          <a:ln w="12700">
            <a:solidFill>
              <a:srgbClr val="1A7A5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3152" y="207568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Legacy Databases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73152" y="2304288"/>
            <a:ext cx="1920240" cy="932688"/>
          </a:xfrm>
          <a:prstGeom prst="rect">
            <a:avLst/>
          </a:prstGeom>
          <a:solidFill>
            <a:srgbClr val="E8F5F0"/>
          </a:solidFill>
          <a:ln w="9525">
            <a:solidFill>
              <a:srgbClr val="1A7A5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18872" y="2359152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SQL Server</a:t>
            </a:r>
            <a:endParaRPr lang="en-US" sz="58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9536" y="2395728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38072" y="2359152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IBM DB2</a:t>
            </a:r>
            <a:endParaRPr lang="en-US" sz="58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9936" y="2816352"/>
            <a:ext cx="347472" cy="347472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2816352"/>
            <a:ext cx="347472" cy="34747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38072" y="2779776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Oracle DB</a:t>
            </a:r>
            <a:endParaRPr lang="en-US" sz="580" dirty="0"/>
          </a:p>
        </p:txBody>
      </p:sp>
      <p:sp>
        <p:nvSpPr>
          <p:cNvPr id="22" name="Shape 15"/>
          <p:cNvSpPr/>
          <p:nvPr/>
        </p:nvSpPr>
        <p:spPr>
          <a:xfrm>
            <a:off x="73152" y="3291840"/>
            <a:ext cx="1920240" cy="228600"/>
          </a:xfrm>
          <a:prstGeom prst="rect">
            <a:avLst/>
          </a:prstGeom>
          <a:solidFill>
            <a:srgbClr val="1A7A5E"/>
          </a:solidFill>
          <a:ln w="12700">
            <a:solidFill>
              <a:srgbClr val="1A7A5E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73152" y="329184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Cloud Databases</a:t>
            </a:r>
            <a:endParaRPr lang="en-US" sz="750" dirty="0"/>
          </a:p>
        </p:txBody>
      </p:sp>
      <p:sp>
        <p:nvSpPr>
          <p:cNvPr id="24" name="Shape 17"/>
          <p:cNvSpPr/>
          <p:nvPr/>
        </p:nvSpPr>
        <p:spPr>
          <a:xfrm>
            <a:off x="73152" y="3520440"/>
            <a:ext cx="1920240" cy="932688"/>
          </a:xfrm>
          <a:prstGeom prst="rect">
            <a:avLst/>
          </a:prstGeom>
          <a:solidFill>
            <a:srgbClr val="E8F5F0"/>
          </a:solidFill>
          <a:ln w="9525">
            <a:solidFill>
              <a:srgbClr val="1A7A5E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118872" y="3575304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Azure SQL</a:t>
            </a:r>
            <a:endParaRPr lang="en-US" sz="580" dirty="0"/>
          </a:p>
        </p:txBody>
      </p:sp>
      <p:sp>
        <p:nvSpPr>
          <p:cNvPr id="26" name="Text 19"/>
          <p:cNvSpPr/>
          <p:nvPr/>
        </p:nvSpPr>
        <p:spPr>
          <a:xfrm>
            <a:off x="728472" y="3575304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AWS RDS</a:t>
            </a:r>
            <a:endParaRPr lang="en-US" sz="58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69136" y="3611880"/>
            <a:ext cx="347472" cy="34747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18872" y="3995928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BigQuery</a:t>
            </a:r>
            <a:endParaRPr lang="en-US" sz="580" dirty="0"/>
          </a:p>
        </p:txBody>
      </p:sp>
      <p:sp>
        <p:nvSpPr>
          <p:cNvPr id="29" name="Text 21"/>
          <p:cNvSpPr/>
          <p:nvPr/>
        </p:nvSpPr>
        <p:spPr>
          <a:xfrm>
            <a:off x="728472" y="3995928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Redshift</a:t>
            </a:r>
            <a:endParaRPr lang="en-US" sz="580" dirty="0"/>
          </a:p>
        </p:txBody>
      </p:sp>
      <p:sp>
        <p:nvSpPr>
          <p:cNvPr id="30" name="Text 22"/>
          <p:cNvSpPr/>
          <p:nvPr/>
        </p:nvSpPr>
        <p:spPr>
          <a:xfrm>
            <a:off x="1338072" y="3995928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DynamoDB</a:t>
            </a:r>
            <a:endParaRPr lang="en-US" sz="580" dirty="0"/>
          </a:p>
        </p:txBody>
      </p:sp>
      <p:sp>
        <p:nvSpPr>
          <p:cNvPr id="31" name="Shape 23"/>
          <p:cNvSpPr/>
          <p:nvPr/>
        </p:nvSpPr>
        <p:spPr>
          <a:xfrm>
            <a:off x="73152" y="4507992"/>
            <a:ext cx="1920240" cy="228600"/>
          </a:xfrm>
          <a:prstGeom prst="rect">
            <a:avLst/>
          </a:prstGeom>
          <a:solidFill>
            <a:srgbClr val="1A7A5E"/>
          </a:solidFill>
          <a:ln w="12700">
            <a:solidFill>
              <a:srgbClr val="1A7A5E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152" y="4507992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Enterprise Applications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73152" y="4736592"/>
            <a:ext cx="1920240" cy="1353312"/>
          </a:xfrm>
          <a:prstGeom prst="rect">
            <a:avLst/>
          </a:prstGeom>
          <a:solidFill>
            <a:srgbClr val="E8F5F0"/>
          </a:solidFill>
          <a:ln w="9525">
            <a:solidFill>
              <a:srgbClr val="1A7A5E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118872" y="4791456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Salesforce</a:t>
            </a:r>
            <a:endParaRPr lang="en-US" sz="580" dirty="0"/>
          </a:p>
        </p:txBody>
      </p:sp>
      <p:sp>
        <p:nvSpPr>
          <p:cNvPr id="35" name="Text 27"/>
          <p:cNvSpPr/>
          <p:nvPr/>
        </p:nvSpPr>
        <p:spPr>
          <a:xfrm>
            <a:off x="728472" y="4791456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Workday</a:t>
            </a:r>
            <a:endParaRPr lang="en-US" sz="580" dirty="0"/>
          </a:p>
        </p:txBody>
      </p:sp>
      <p:sp>
        <p:nvSpPr>
          <p:cNvPr id="36" name="Text 28"/>
          <p:cNvSpPr/>
          <p:nvPr/>
        </p:nvSpPr>
        <p:spPr>
          <a:xfrm>
            <a:off x="1338072" y="4791456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Google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Analytics</a:t>
            </a:r>
            <a:endParaRPr lang="en-US" sz="580" dirty="0"/>
          </a:p>
        </p:txBody>
      </p:sp>
      <p:sp>
        <p:nvSpPr>
          <p:cNvPr id="37" name="Text 29"/>
          <p:cNvSpPr/>
          <p:nvPr/>
        </p:nvSpPr>
        <p:spPr>
          <a:xfrm>
            <a:off x="118872" y="5212080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Oracle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NetSuite</a:t>
            </a:r>
            <a:endParaRPr lang="en-US" sz="580" dirty="0"/>
          </a:p>
        </p:txBody>
      </p:sp>
      <p:sp>
        <p:nvSpPr>
          <p:cNvPr id="38" name="Text 30"/>
          <p:cNvSpPr/>
          <p:nvPr/>
        </p:nvSpPr>
        <p:spPr>
          <a:xfrm>
            <a:off x="728472" y="5212080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ServiceNow</a:t>
            </a:r>
            <a:endParaRPr lang="en-US" sz="580" dirty="0"/>
          </a:p>
        </p:txBody>
      </p:sp>
      <p:sp>
        <p:nvSpPr>
          <p:cNvPr id="39" name="Text 31"/>
          <p:cNvSpPr/>
          <p:nvPr/>
        </p:nvSpPr>
        <p:spPr>
          <a:xfrm>
            <a:off x="1338072" y="5212080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Google Ads</a:t>
            </a:r>
            <a:endParaRPr lang="en-US" sz="580" dirty="0"/>
          </a:p>
        </p:txBody>
      </p:sp>
      <p:sp>
        <p:nvSpPr>
          <p:cNvPr id="40" name="Text 32"/>
          <p:cNvSpPr/>
          <p:nvPr/>
        </p:nvSpPr>
        <p:spPr>
          <a:xfrm>
            <a:off x="118872" y="5632704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MS Dynamics 365</a:t>
            </a:r>
            <a:endParaRPr lang="en-US" sz="580" dirty="0"/>
          </a:p>
        </p:txBody>
      </p:sp>
      <p:sp>
        <p:nvSpPr>
          <p:cNvPr id="41" name="Text 33"/>
          <p:cNvSpPr/>
          <p:nvPr/>
        </p:nvSpPr>
        <p:spPr>
          <a:xfrm>
            <a:off x="728472" y="5632704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SharePoint</a:t>
            </a:r>
            <a:endParaRPr lang="en-US" sz="580" dirty="0"/>
          </a:p>
        </p:txBody>
      </p:sp>
      <p:sp>
        <p:nvSpPr>
          <p:cNvPr id="42" name="Shape 34"/>
          <p:cNvSpPr/>
          <p:nvPr/>
        </p:nvSpPr>
        <p:spPr>
          <a:xfrm>
            <a:off x="1993392" y="1225296"/>
            <a:ext cx="201168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43" name="Shape 35"/>
          <p:cNvSpPr/>
          <p:nvPr/>
        </p:nvSpPr>
        <p:spPr>
          <a:xfrm>
            <a:off x="1993392" y="2660904"/>
            <a:ext cx="201168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44" name="Shape 36"/>
          <p:cNvSpPr/>
          <p:nvPr/>
        </p:nvSpPr>
        <p:spPr>
          <a:xfrm>
            <a:off x="1993392" y="3877056"/>
            <a:ext cx="201168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45" name="Shape 37"/>
          <p:cNvSpPr/>
          <p:nvPr/>
        </p:nvSpPr>
        <p:spPr>
          <a:xfrm>
            <a:off x="1993392" y="5303520"/>
            <a:ext cx="201168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46" name="Shape 38"/>
          <p:cNvSpPr/>
          <p:nvPr/>
        </p:nvSpPr>
        <p:spPr>
          <a:xfrm>
            <a:off x="2212848" y="438912"/>
            <a:ext cx="6025896" cy="4224528"/>
          </a:xfrm>
          <a:prstGeom prst="rect">
            <a:avLst/>
          </a:prstGeom>
          <a:solidFill>
            <a:srgbClr val="FAFAFE"/>
          </a:solidFill>
          <a:ln w="31750">
            <a:solidFill>
              <a:srgbClr val="5D35B1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2212848" y="438912"/>
            <a:ext cx="6025896" cy="274320"/>
          </a:xfrm>
          <a:prstGeom prst="rect">
            <a:avLst/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04288" y="466344"/>
            <a:ext cx="548640" cy="219456"/>
          </a:xfrm>
          <a:prstGeom prst="rect">
            <a:avLst/>
          </a:prstGeom>
        </p:spPr>
      </p:pic>
      <p:sp>
        <p:nvSpPr>
          <p:cNvPr id="49" name="Text 40"/>
          <p:cNvSpPr/>
          <p:nvPr/>
        </p:nvSpPr>
        <p:spPr>
          <a:xfrm>
            <a:off x="2898648" y="438912"/>
            <a:ext cx="5248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 Intelligence Platform</a:t>
            </a:r>
            <a:endParaRPr lang="en-US" sz="1100" dirty="0"/>
          </a:p>
        </p:txBody>
      </p:sp>
      <p:sp>
        <p:nvSpPr>
          <p:cNvPr id="50" name="Shape 41"/>
          <p:cNvSpPr/>
          <p:nvPr/>
        </p:nvSpPr>
        <p:spPr>
          <a:xfrm>
            <a:off x="2286000" y="749808"/>
            <a:ext cx="5879592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51" name="Text 42"/>
          <p:cNvSpPr/>
          <p:nvPr/>
        </p:nvSpPr>
        <p:spPr>
          <a:xfrm>
            <a:off x="2286000" y="749808"/>
            <a:ext cx="5879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Orchestration</a:t>
            </a:r>
            <a:endParaRPr lang="en-US" sz="800" dirty="0"/>
          </a:p>
        </p:txBody>
      </p:sp>
      <p:sp>
        <p:nvSpPr>
          <p:cNvPr id="52" name="Shape 43"/>
          <p:cNvSpPr/>
          <p:nvPr/>
        </p:nvSpPr>
        <p:spPr>
          <a:xfrm>
            <a:off x="2286000" y="1042416"/>
            <a:ext cx="1417320" cy="2633472"/>
          </a:xfrm>
          <a:prstGeom prst="rect">
            <a:avLst/>
          </a:prstGeom>
          <a:solidFill>
            <a:srgbClr val="EDE8F9"/>
          </a:solidFill>
          <a:ln w="19050">
            <a:solidFill>
              <a:srgbClr val="5D35B1"/>
            </a:solidFill>
            <a:prstDash val="dash"/>
          </a:ln>
        </p:spPr>
      </p:sp>
      <p:sp>
        <p:nvSpPr>
          <p:cNvPr id="53" name="Text 44"/>
          <p:cNvSpPr/>
          <p:nvPr/>
        </p:nvSpPr>
        <p:spPr>
          <a:xfrm>
            <a:off x="2286000" y="1078992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D35B1"/>
                </a:solidFill>
              </a:rPr>
              <a:t>Data Ingestion</a:t>
            </a:r>
            <a:endParaRPr lang="en-US" sz="800" dirty="0"/>
          </a:p>
        </p:txBody>
      </p:sp>
      <p:sp>
        <p:nvSpPr>
          <p:cNvPr id="54" name="Shape 45"/>
          <p:cNvSpPr/>
          <p:nvPr/>
        </p:nvSpPr>
        <p:spPr>
          <a:xfrm>
            <a:off x="2450592" y="1353312"/>
            <a:ext cx="256032" cy="256032"/>
          </a:xfrm>
          <a:prstGeom prst="ellipse">
            <a:avLst/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55" name="Text 46"/>
          <p:cNvSpPr/>
          <p:nvPr/>
        </p:nvSpPr>
        <p:spPr>
          <a:xfrm>
            <a:off x="2450592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56" name="Shape 47"/>
          <p:cNvSpPr/>
          <p:nvPr/>
        </p:nvSpPr>
        <p:spPr>
          <a:xfrm>
            <a:off x="2633472" y="1389888"/>
            <a:ext cx="475488" cy="47548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5D35B1"/>
            </a:solidFill>
            <a:prstDash val="solid"/>
          </a:ln>
        </p:spPr>
      </p:sp>
      <p:sp>
        <p:nvSpPr>
          <p:cNvPr id="57" name="Text 48"/>
          <p:cNvSpPr/>
          <p:nvPr/>
        </p:nvSpPr>
        <p:spPr>
          <a:xfrm>
            <a:off x="2377440" y="1883664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</a:rPr>
              <a:t>Batch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</a:rPr>
              <a:t>Ingestion</a:t>
            </a:r>
            <a:endParaRPr lang="en-US" sz="700" dirty="0"/>
          </a:p>
        </p:txBody>
      </p:sp>
      <p:sp>
        <p:nvSpPr>
          <p:cNvPr id="58" name="Shape 49"/>
          <p:cNvSpPr/>
          <p:nvPr/>
        </p:nvSpPr>
        <p:spPr>
          <a:xfrm>
            <a:off x="2450592" y="2121408"/>
            <a:ext cx="256032" cy="256032"/>
          </a:xfrm>
          <a:prstGeom prst="ellipse">
            <a:avLst/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59" name="Text 50"/>
          <p:cNvSpPr/>
          <p:nvPr/>
        </p:nvSpPr>
        <p:spPr>
          <a:xfrm>
            <a:off x="2450592" y="212140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60" name="Shape 51"/>
          <p:cNvSpPr/>
          <p:nvPr/>
        </p:nvSpPr>
        <p:spPr>
          <a:xfrm>
            <a:off x="2633472" y="2157984"/>
            <a:ext cx="475488" cy="47548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5D35B1"/>
            </a:solidFill>
            <a:prstDash val="solid"/>
          </a:ln>
        </p:spPr>
      </p:sp>
      <p:sp>
        <p:nvSpPr>
          <p:cNvPr id="61" name="Text 52"/>
          <p:cNvSpPr/>
          <p:nvPr/>
        </p:nvSpPr>
        <p:spPr>
          <a:xfrm>
            <a:off x="2377440" y="26517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</a:rPr>
              <a:t>CDC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</a:rPr>
              <a:t>Ingestion</a:t>
            </a:r>
            <a:endParaRPr lang="en-US" sz="700" dirty="0"/>
          </a:p>
        </p:txBody>
      </p:sp>
      <p:sp>
        <p:nvSpPr>
          <p:cNvPr id="62" name="Shape 53"/>
          <p:cNvSpPr/>
          <p:nvPr/>
        </p:nvSpPr>
        <p:spPr>
          <a:xfrm>
            <a:off x="2450592" y="2889504"/>
            <a:ext cx="256032" cy="256032"/>
          </a:xfrm>
          <a:prstGeom prst="ellipse">
            <a:avLst/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63" name="Text 54"/>
          <p:cNvSpPr/>
          <p:nvPr/>
        </p:nvSpPr>
        <p:spPr>
          <a:xfrm>
            <a:off x="2450592" y="28895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64" name="Shape 55"/>
          <p:cNvSpPr/>
          <p:nvPr/>
        </p:nvSpPr>
        <p:spPr>
          <a:xfrm>
            <a:off x="2633472" y="2926080"/>
            <a:ext cx="475488" cy="47548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5D35B1"/>
            </a:solidFill>
            <a:prstDash val="solid"/>
          </a:ln>
        </p:spPr>
      </p:sp>
      <p:sp>
        <p:nvSpPr>
          <p:cNvPr id="65" name="Text 56"/>
          <p:cNvSpPr/>
          <p:nvPr/>
        </p:nvSpPr>
        <p:spPr>
          <a:xfrm>
            <a:off x="2377440" y="341985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</a:rPr>
              <a:t>Streaming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</a:rPr>
              <a:t>Ingestion</a:t>
            </a:r>
            <a:endParaRPr lang="en-US" sz="700" dirty="0"/>
          </a:p>
        </p:txBody>
      </p:sp>
      <p:sp>
        <p:nvSpPr>
          <p:cNvPr id="66" name="Shape 57"/>
          <p:cNvSpPr/>
          <p:nvPr/>
        </p:nvSpPr>
        <p:spPr>
          <a:xfrm>
            <a:off x="3831336" y="1042416"/>
            <a:ext cx="2194560" cy="228600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67" name="Text 58"/>
          <p:cNvSpPr/>
          <p:nvPr/>
        </p:nvSpPr>
        <p:spPr>
          <a:xfrm>
            <a:off x="3831336" y="1042416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ETL</a:t>
            </a:r>
            <a:endParaRPr lang="en-US" sz="800" dirty="0"/>
          </a:p>
        </p:txBody>
      </p:sp>
      <p:sp>
        <p:nvSpPr>
          <p:cNvPr id="68" name="Shape 59"/>
          <p:cNvSpPr/>
          <p:nvPr/>
        </p:nvSpPr>
        <p:spPr>
          <a:xfrm>
            <a:off x="3831336" y="1271016"/>
            <a:ext cx="2194560" cy="101498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9" name="Shape 60"/>
          <p:cNvSpPr/>
          <p:nvPr/>
        </p:nvSpPr>
        <p:spPr>
          <a:xfrm>
            <a:off x="3941064" y="1463040"/>
            <a:ext cx="475488" cy="402336"/>
          </a:xfrm>
          <a:prstGeom prst="rect">
            <a:avLst>
              <a:gd name="adj" fmla="val 11364"/>
            </a:avLst>
          </a:prstGeom>
          <a:solidFill>
            <a:srgbClr val="EDE8F9"/>
          </a:solidFill>
          <a:ln w="10160">
            <a:solidFill>
              <a:srgbClr val="5D35B1"/>
            </a:solidFill>
            <a:prstDash val="solid"/>
          </a:ln>
        </p:spPr>
      </p:sp>
      <p:sp>
        <p:nvSpPr>
          <p:cNvPr id="70" name="Text 61"/>
          <p:cNvSpPr/>
          <p:nvPr/>
        </p:nvSpPr>
        <p:spPr>
          <a:xfrm>
            <a:off x="3941064" y="1700784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D35B1"/>
                </a:solidFill>
              </a:rPr>
              <a:t>RAW</a:t>
            </a:r>
            <a:endParaRPr lang="en-US" sz="650" dirty="0"/>
          </a:p>
        </p:txBody>
      </p:sp>
      <p:sp>
        <p:nvSpPr>
          <p:cNvPr id="71" name="Shape 62"/>
          <p:cNvSpPr/>
          <p:nvPr/>
        </p:nvSpPr>
        <p:spPr>
          <a:xfrm>
            <a:off x="4672584" y="1463040"/>
            <a:ext cx="475488" cy="402336"/>
          </a:xfrm>
          <a:prstGeom prst="rect">
            <a:avLst>
              <a:gd name="adj" fmla="val 11364"/>
            </a:avLst>
          </a:prstGeom>
          <a:solidFill>
            <a:srgbClr val="EDE8F9"/>
          </a:solidFill>
          <a:ln w="10160">
            <a:solidFill>
              <a:srgbClr val="5D35B1"/>
            </a:solidFill>
            <a:prstDash val="solid"/>
          </a:ln>
        </p:spPr>
      </p:sp>
      <p:sp>
        <p:nvSpPr>
          <p:cNvPr id="72" name="Text 63"/>
          <p:cNvSpPr/>
          <p:nvPr/>
        </p:nvSpPr>
        <p:spPr>
          <a:xfrm>
            <a:off x="4672584" y="1700784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D35B1"/>
                </a:solidFill>
              </a:rPr>
              <a:t>ODS</a:t>
            </a:r>
            <a:endParaRPr lang="en-US" sz="650" dirty="0"/>
          </a:p>
        </p:txBody>
      </p:sp>
      <p:sp>
        <p:nvSpPr>
          <p:cNvPr id="73" name="Shape 64"/>
          <p:cNvSpPr/>
          <p:nvPr/>
        </p:nvSpPr>
        <p:spPr>
          <a:xfrm>
            <a:off x="5440680" y="1463040"/>
            <a:ext cx="475488" cy="402336"/>
          </a:xfrm>
          <a:prstGeom prst="rect">
            <a:avLst>
              <a:gd name="adj" fmla="val 11364"/>
            </a:avLst>
          </a:prstGeom>
          <a:solidFill>
            <a:srgbClr val="EDE8F9"/>
          </a:solidFill>
          <a:ln w="10160">
            <a:solidFill>
              <a:srgbClr val="5D35B1"/>
            </a:solidFill>
            <a:prstDash val="solid"/>
          </a:ln>
        </p:spPr>
      </p:sp>
      <p:sp>
        <p:nvSpPr>
          <p:cNvPr id="74" name="Text 65"/>
          <p:cNvSpPr/>
          <p:nvPr/>
        </p:nvSpPr>
        <p:spPr>
          <a:xfrm>
            <a:off x="5440680" y="1700784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D35B1"/>
                </a:solidFill>
              </a:rPr>
              <a:t>Facts</a:t>
            </a:r>
            <a:endParaRPr lang="en-US" sz="650" dirty="0"/>
          </a:p>
        </p:txBody>
      </p:sp>
      <p:sp>
        <p:nvSpPr>
          <p:cNvPr id="75" name="Shape 66"/>
          <p:cNvSpPr/>
          <p:nvPr/>
        </p:nvSpPr>
        <p:spPr>
          <a:xfrm>
            <a:off x="4434840" y="1664208"/>
            <a:ext cx="237744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dash"/>
            <a:tailEnd type="arrow"/>
          </a:ln>
        </p:spPr>
      </p:sp>
      <p:sp>
        <p:nvSpPr>
          <p:cNvPr id="76" name="Shape 67"/>
          <p:cNvSpPr/>
          <p:nvPr/>
        </p:nvSpPr>
        <p:spPr>
          <a:xfrm>
            <a:off x="5184648" y="1627632"/>
            <a:ext cx="256032" cy="91440"/>
          </a:xfrm>
          <a:prstGeom prst="line">
            <a:avLst/>
          </a:prstGeom>
          <a:noFill/>
          <a:ln w="12700">
            <a:solidFill>
              <a:srgbClr val="888888"/>
            </a:solidFill>
            <a:prstDash val="dash"/>
            <a:tailEnd type="arrow"/>
          </a:ln>
        </p:spPr>
      </p:sp>
      <p:sp>
        <p:nvSpPr>
          <p:cNvPr id="77" name="Shape 68"/>
          <p:cNvSpPr/>
          <p:nvPr/>
        </p:nvSpPr>
        <p:spPr>
          <a:xfrm>
            <a:off x="4928616" y="2286000"/>
            <a:ext cx="0" cy="201168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pic>
        <p:nvPicPr>
          <p:cNvPr id="78" name="Image 7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77256" y="1298448"/>
            <a:ext cx="457200" cy="164592"/>
          </a:xfrm>
          <a:prstGeom prst="rect">
            <a:avLst/>
          </a:prstGeom>
        </p:spPr>
      </p:pic>
      <p:sp>
        <p:nvSpPr>
          <p:cNvPr id="79" name="Shape 69"/>
          <p:cNvSpPr/>
          <p:nvPr/>
        </p:nvSpPr>
        <p:spPr>
          <a:xfrm>
            <a:off x="3831336" y="2487168"/>
            <a:ext cx="2194560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80" name="Text 70"/>
          <p:cNvSpPr/>
          <p:nvPr/>
        </p:nvSpPr>
        <p:spPr>
          <a:xfrm>
            <a:off x="3831336" y="2487168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Data Warehouse</a:t>
            </a:r>
            <a:endParaRPr lang="en-US" sz="800" dirty="0"/>
          </a:p>
        </p:txBody>
      </p:sp>
      <p:sp>
        <p:nvSpPr>
          <p:cNvPr id="81" name="Shape 71"/>
          <p:cNvSpPr/>
          <p:nvPr/>
        </p:nvSpPr>
        <p:spPr>
          <a:xfrm>
            <a:off x="3831336" y="2724912"/>
            <a:ext cx="2194560" cy="51206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2" name="Shape 72"/>
          <p:cNvSpPr/>
          <p:nvPr/>
        </p:nvSpPr>
        <p:spPr>
          <a:xfrm>
            <a:off x="3959352" y="2779776"/>
            <a:ext cx="1938528" cy="274320"/>
          </a:xfrm>
          <a:prstGeom prst="rect">
            <a:avLst>
              <a:gd name="adj" fmla="val 20000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pic>
        <p:nvPicPr>
          <p:cNvPr id="83" name="Image 8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32504" y="2807208"/>
            <a:ext cx="182880" cy="182880"/>
          </a:xfrm>
          <a:prstGeom prst="rect">
            <a:avLst/>
          </a:prstGeom>
        </p:spPr>
      </p:pic>
      <p:sp>
        <p:nvSpPr>
          <p:cNvPr id="84" name="Text 73"/>
          <p:cNvSpPr/>
          <p:nvPr/>
        </p:nvSpPr>
        <p:spPr>
          <a:xfrm>
            <a:off x="4251960" y="277977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Databricks SQL</a:t>
            </a:r>
            <a:endParaRPr lang="en-US" sz="750" dirty="0"/>
          </a:p>
        </p:txBody>
      </p:sp>
      <p:sp>
        <p:nvSpPr>
          <p:cNvPr id="85" name="Text 74"/>
          <p:cNvSpPr/>
          <p:nvPr/>
        </p:nvSpPr>
        <p:spPr>
          <a:xfrm>
            <a:off x="3922776" y="3081528"/>
            <a:ext cx="201168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i="1" dirty="0">
                <a:solidFill>
                  <a:srgbClr val="888888"/>
                </a:solidFill>
              </a:rPr>
              <a:t>Best-in-class DW performance</a:t>
            </a:r>
            <a:endParaRPr lang="en-US" sz="550" dirty="0"/>
          </a:p>
        </p:txBody>
      </p:sp>
      <p:sp>
        <p:nvSpPr>
          <p:cNvPr id="86" name="Shape 75"/>
          <p:cNvSpPr/>
          <p:nvPr/>
        </p:nvSpPr>
        <p:spPr>
          <a:xfrm>
            <a:off x="3831336" y="3364992"/>
            <a:ext cx="2194560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87" name="Text 76"/>
          <p:cNvSpPr/>
          <p:nvPr/>
        </p:nvSpPr>
        <p:spPr>
          <a:xfrm>
            <a:off x="3831336" y="3364992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AI Agent Systems</a:t>
            </a:r>
            <a:endParaRPr lang="en-US" sz="800" dirty="0"/>
          </a:p>
        </p:txBody>
      </p:sp>
      <p:sp>
        <p:nvSpPr>
          <p:cNvPr id="88" name="Shape 77"/>
          <p:cNvSpPr/>
          <p:nvPr/>
        </p:nvSpPr>
        <p:spPr>
          <a:xfrm>
            <a:off x="3831336" y="3602736"/>
            <a:ext cx="2194560" cy="96926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dash"/>
          </a:ln>
        </p:spPr>
      </p:sp>
      <p:pic>
        <p:nvPicPr>
          <p:cNvPr id="89" name="Image 9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50408" y="3639312"/>
            <a:ext cx="402336" cy="329184"/>
          </a:xfrm>
          <a:prstGeom prst="rect">
            <a:avLst/>
          </a:prstGeom>
        </p:spPr>
      </p:pic>
      <p:sp>
        <p:nvSpPr>
          <p:cNvPr id="90" name="Shape 78"/>
          <p:cNvSpPr/>
          <p:nvPr/>
        </p:nvSpPr>
        <p:spPr>
          <a:xfrm>
            <a:off x="3904488" y="3675888"/>
            <a:ext cx="786384" cy="219456"/>
          </a:xfrm>
          <a:prstGeom prst="rect">
            <a:avLst>
              <a:gd name="adj" fmla="val 33333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91" name="Text 79"/>
          <p:cNvSpPr/>
          <p:nvPr/>
        </p:nvSpPr>
        <p:spPr>
          <a:xfrm>
            <a:off x="3904488" y="3675888"/>
            <a:ext cx="786384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Prepare data</a:t>
            </a:r>
            <a:endParaRPr lang="en-US" sz="550" dirty="0"/>
          </a:p>
        </p:txBody>
      </p:sp>
      <p:sp>
        <p:nvSpPr>
          <p:cNvPr id="92" name="Shape 80"/>
          <p:cNvSpPr/>
          <p:nvPr/>
        </p:nvSpPr>
        <p:spPr>
          <a:xfrm>
            <a:off x="5148072" y="3675888"/>
            <a:ext cx="786384" cy="219456"/>
          </a:xfrm>
          <a:prstGeom prst="rect">
            <a:avLst>
              <a:gd name="adj" fmla="val 33333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93" name="Text 81"/>
          <p:cNvSpPr/>
          <p:nvPr/>
        </p:nvSpPr>
        <p:spPr>
          <a:xfrm>
            <a:off x="5148072" y="3675888"/>
            <a:ext cx="786384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Build agents</a:t>
            </a:r>
            <a:endParaRPr lang="en-US" sz="550" dirty="0"/>
          </a:p>
        </p:txBody>
      </p:sp>
      <p:sp>
        <p:nvSpPr>
          <p:cNvPr id="94" name="Shape 82"/>
          <p:cNvSpPr/>
          <p:nvPr/>
        </p:nvSpPr>
        <p:spPr>
          <a:xfrm>
            <a:off x="3904488" y="3950208"/>
            <a:ext cx="786384" cy="219456"/>
          </a:xfrm>
          <a:prstGeom prst="rect">
            <a:avLst>
              <a:gd name="adj" fmla="val 33333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95" name="Text 83"/>
          <p:cNvSpPr/>
          <p:nvPr/>
        </p:nvSpPr>
        <p:spPr>
          <a:xfrm>
            <a:off x="3904488" y="3950208"/>
            <a:ext cx="786384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Evaluate agents</a:t>
            </a:r>
            <a:endParaRPr lang="en-US" sz="550" dirty="0"/>
          </a:p>
        </p:txBody>
      </p:sp>
      <p:sp>
        <p:nvSpPr>
          <p:cNvPr id="96" name="Shape 84"/>
          <p:cNvSpPr/>
          <p:nvPr/>
        </p:nvSpPr>
        <p:spPr>
          <a:xfrm>
            <a:off x="5148072" y="3950208"/>
            <a:ext cx="786384" cy="219456"/>
          </a:xfrm>
          <a:prstGeom prst="rect">
            <a:avLst>
              <a:gd name="adj" fmla="val 33333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97" name="Text 85"/>
          <p:cNvSpPr/>
          <p:nvPr/>
        </p:nvSpPr>
        <p:spPr>
          <a:xfrm>
            <a:off x="5148072" y="3950208"/>
            <a:ext cx="786384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Deploy agents</a:t>
            </a:r>
            <a:endParaRPr lang="en-US" sz="550" dirty="0"/>
          </a:p>
        </p:txBody>
      </p:sp>
      <p:sp>
        <p:nvSpPr>
          <p:cNvPr id="98" name="Shape 86"/>
          <p:cNvSpPr/>
          <p:nvPr/>
        </p:nvSpPr>
        <p:spPr>
          <a:xfrm>
            <a:off x="4526280" y="4224528"/>
            <a:ext cx="786384" cy="219456"/>
          </a:xfrm>
          <a:prstGeom prst="rect">
            <a:avLst>
              <a:gd name="adj" fmla="val 33333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99" name="Text 87"/>
          <p:cNvSpPr/>
          <p:nvPr/>
        </p:nvSpPr>
        <p:spPr>
          <a:xfrm>
            <a:off x="4526280" y="4224528"/>
            <a:ext cx="786384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Govern agents</a:t>
            </a:r>
            <a:endParaRPr lang="en-US" sz="550" dirty="0"/>
          </a:p>
        </p:txBody>
      </p:sp>
      <p:sp>
        <p:nvSpPr>
          <p:cNvPr id="100" name="Shape 88"/>
          <p:cNvSpPr/>
          <p:nvPr/>
        </p:nvSpPr>
        <p:spPr>
          <a:xfrm>
            <a:off x="6153912" y="1042416"/>
            <a:ext cx="1828800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101" name="Text 89"/>
          <p:cNvSpPr/>
          <p:nvPr/>
        </p:nvSpPr>
        <p:spPr>
          <a:xfrm>
            <a:off x="6153912" y="10424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Streaming Analytics</a:t>
            </a:r>
            <a:endParaRPr lang="en-US" sz="700" dirty="0"/>
          </a:p>
        </p:txBody>
      </p:sp>
      <p:sp>
        <p:nvSpPr>
          <p:cNvPr id="102" name="Shape 90"/>
          <p:cNvSpPr/>
          <p:nvPr/>
        </p:nvSpPr>
        <p:spPr>
          <a:xfrm>
            <a:off x="6153912" y="1280160"/>
            <a:ext cx="1828800" cy="42062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3" name="Shape 91"/>
          <p:cNvSpPr/>
          <p:nvPr/>
        </p:nvSpPr>
        <p:spPr>
          <a:xfrm>
            <a:off x="6245352" y="1335024"/>
            <a:ext cx="384048" cy="329184"/>
          </a:xfrm>
          <a:prstGeom prst="rect">
            <a:avLst>
              <a:gd name="adj" fmla="val 11111"/>
            </a:avLst>
          </a:prstGeom>
          <a:solidFill>
            <a:srgbClr val="EDE8F9"/>
          </a:solidFill>
          <a:ln w="6350">
            <a:solidFill>
              <a:srgbClr val="5D35B1"/>
            </a:solidFill>
            <a:prstDash val="solid"/>
          </a:ln>
        </p:spPr>
      </p:sp>
      <p:sp>
        <p:nvSpPr>
          <p:cNvPr id="104" name="Text 92"/>
          <p:cNvSpPr/>
          <p:nvPr/>
        </p:nvSpPr>
        <p:spPr>
          <a:xfrm>
            <a:off x="6245352" y="1335024"/>
            <a:ext cx="3840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📊</a:t>
            </a:r>
            <a:endParaRPr lang="en-US" sz="1300" dirty="0"/>
          </a:p>
        </p:txBody>
      </p:sp>
      <p:sp>
        <p:nvSpPr>
          <p:cNvPr id="105" name="Shape 93"/>
          <p:cNvSpPr/>
          <p:nvPr/>
        </p:nvSpPr>
        <p:spPr>
          <a:xfrm>
            <a:off x="6153912" y="1755648"/>
            <a:ext cx="1828800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106" name="Text 94"/>
          <p:cNvSpPr/>
          <p:nvPr/>
        </p:nvSpPr>
        <p:spPr>
          <a:xfrm>
            <a:off x="6153912" y="175564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BI &amp; Reporting</a:t>
            </a:r>
            <a:endParaRPr lang="en-US" sz="700" dirty="0"/>
          </a:p>
        </p:txBody>
      </p:sp>
      <p:sp>
        <p:nvSpPr>
          <p:cNvPr id="107" name="Shape 95"/>
          <p:cNvSpPr/>
          <p:nvPr/>
        </p:nvSpPr>
        <p:spPr>
          <a:xfrm>
            <a:off x="6153912" y="1993392"/>
            <a:ext cx="1828800" cy="42062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8" name="Shape 96"/>
          <p:cNvSpPr/>
          <p:nvPr/>
        </p:nvSpPr>
        <p:spPr>
          <a:xfrm>
            <a:off x="6245352" y="2048256"/>
            <a:ext cx="384048" cy="329184"/>
          </a:xfrm>
          <a:prstGeom prst="rect">
            <a:avLst>
              <a:gd name="adj" fmla="val 11111"/>
            </a:avLst>
          </a:prstGeom>
          <a:solidFill>
            <a:srgbClr val="EDE8F9"/>
          </a:solidFill>
          <a:ln w="6350">
            <a:solidFill>
              <a:srgbClr val="5D35B1"/>
            </a:solidFill>
            <a:prstDash val="solid"/>
          </a:ln>
        </p:spPr>
      </p:sp>
      <p:sp>
        <p:nvSpPr>
          <p:cNvPr id="109" name="Text 97"/>
          <p:cNvSpPr/>
          <p:nvPr/>
        </p:nvSpPr>
        <p:spPr>
          <a:xfrm>
            <a:off x="6245352" y="2048256"/>
            <a:ext cx="3840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📈</a:t>
            </a:r>
            <a:endParaRPr lang="en-US" sz="1300" dirty="0"/>
          </a:p>
        </p:txBody>
      </p:sp>
      <p:sp>
        <p:nvSpPr>
          <p:cNvPr id="110" name="Shape 98"/>
          <p:cNvSpPr/>
          <p:nvPr/>
        </p:nvSpPr>
        <p:spPr>
          <a:xfrm>
            <a:off x="6153912" y="2468880"/>
            <a:ext cx="1828800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111" name="Text 99"/>
          <p:cNvSpPr/>
          <p:nvPr/>
        </p:nvSpPr>
        <p:spPr>
          <a:xfrm>
            <a:off x="6153912" y="246888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Data Sharing &amp; Marketplace</a:t>
            </a:r>
            <a:endParaRPr lang="en-US" sz="700" dirty="0"/>
          </a:p>
        </p:txBody>
      </p:sp>
      <p:sp>
        <p:nvSpPr>
          <p:cNvPr id="112" name="Shape 100"/>
          <p:cNvSpPr/>
          <p:nvPr/>
        </p:nvSpPr>
        <p:spPr>
          <a:xfrm>
            <a:off x="6153912" y="2706624"/>
            <a:ext cx="1828800" cy="42062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3" name="Shape 101"/>
          <p:cNvSpPr/>
          <p:nvPr/>
        </p:nvSpPr>
        <p:spPr>
          <a:xfrm>
            <a:off x="6245352" y="2761488"/>
            <a:ext cx="384048" cy="329184"/>
          </a:xfrm>
          <a:prstGeom prst="rect">
            <a:avLst>
              <a:gd name="adj" fmla="val 11111"/>
            </a:avLst>
          </a:prstGeom>
          <a:solidFill>
            <a:srgbClr val="EDE8F9"/>
          </a:solidFill>
          <a:ln w="6350">
            <a:solidFill>
              <a:srgbClr val="5D35B1"/>
            </a:solidFill>
            <a:prstDash val="solid"/>
          </a:ln>
        </p:spPr>
      </p:sp>
      <p:sp>
        <p:nvSpPr>
          <p:cNvPr id="114" name="Text 102"/>
          <p:cNvSpPr/>
          <p:nvPr/>
        </p:nvSpPr>
        <p:spPr>
          <a:xfrm>
            <a:off x="6245352" y="2761488"/>
            <a:ext cx="3840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🔗</a:t>
            </a:r>
            <a:endParaRPr lang="en-US" sz="1300" dirty="0"/>
          </a:p>
        </p:txBody>
      </p:sp>
      <p:sp>
        <p:nvSpPr>
          <p:cNvPr id="115" name="Shape 103"/>
          <p:cNvSpPr/>
          <p:nvPr/>
        </p:nvSpPr>
        <p:spPr>
          <a:xfrm>
            <a:off x="6153912" y="3182112"/>
            <a:ext cx="1828800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116" name="Text 104"/>
          <p:cNvSpPr/>
          <p:nvPr/>
        </p:nvSpPr>
        <p:spPr>
          <a:xfrm>
            <a:off x="6153912" y="318211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AI Applications</a:t>
            </a:r>
            <a:endParaRPr lang="en-US" sz="700" dirty="0"/>
          </a:p>
        </p:txBody>
      </p:sp>
      <p:sp>
        <p:nvSpPr>
          <p:cNvPr id="117" name="Shape 105"/>
          <p:cNvSpPr/>
          <p:nvPr/>
        </p:nvSpPr>
        <p:spPr>
          <a:xfrm>
            <a:off x="6153912" y="3419856"/>
            <a:ext cx="1828800" cy="42062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8" name="Shape 106"/>
          <p:cNvSpPr/>
          <p:nvPr/>
        </p:nvSpPr>
        <p:spPr>
          <a:xfrm>
            <a:off x="6245352" y="3474720"/>
            <a:ext cx="384048" cy="329184"/>
          </a:xfrm>
          <a:prstGeom prst="rect">
            <a:avLst>
              <a:gd name="adj" fmla="val 11111"/>
            </a:avLst>
          </a:prstGeom>
          <a:solidFill>
            <a:srgbClr val="EDE8F9"/>
          </a:solidFill>
          <a:ln w="6350">
            <a:solidFill>
              <a:srgbClr val="5D35B1"/>
            </a:solidFill>
            <a:prstDash val="solid"/>
          </a:ln>
        </p:spPr>
      </p:sp>
      <p:sp>
        <p:nvSpPr>
          <p:cNvPr id="119" name="Text 107"/>
          <p:cNvSpPr/>
          <p:nvPr/>
        </p:nvSpPr>
        <p:spPr>
          <a:xfrm>
            <a:off x="6245352" y="3474720"/>
            <a:ext cx="3840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🤖</a:t>
            </a:r>
            <a:endParaRPr lang="en-US" sz="1300" dirty="0"/>
          </a:p>
        </p:txBody>
      </p:sp>
      <p:sp>
        <p:nvSpPr>
          <p:cNvPr id="120" name="Shape 108"/>
          <p:cNvSpPr/>
          <p:nvPr/>
        </p:nvSpPr>
        <p:spPr>
          <a:xfrm>
            <a:off x="6153912" y="3895344"/>
            <a:ext cx="1828800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121" name="Text 109"/>
          <p:cNvSpPr/>
          <p:nvPr/>
        </p:nvSpPr>
        <p:spPr>
          <a:xfrm>
            <a:off x="6153912" y="389534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Apps</a:t>
            </a:r>
            <a:endParaRPr lang="en-US" sz="700" dirty="0"/>
          </a:p>
        </p:txBody>
      </p:sp>
      <p:sp>
        <p:nvSpPr>
          <p:cNvPr id="122" name="Shape 110"/>
          <p:cNvSpPr/>
          <p:nvPr/>
        </p:nvSpPr>
        <p:spPr>
          <a:xfrm>
            <a:off x="6153912" y="4133088"/>
            <a:ext cx="1828800" cy="42062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3" name="Shape 111"/>
          <p:cNvSpPr/>
          <p:nvPr/>
        </p:nvSpPr>
        <p:spPr>
          <a:xfrm>
            <a:off x="6245352" y="4187952"/>
            <a:ext cx="384048" cy="329184"/>
          </a:xfrm>
          <a:prstGeom prst="rect">
            <a:avLst>
              <a:gd name="adj" fmla="val 11111"/>
            </a:avLst>
          </a:prstGeom>
          <a:solidFill>
            <a:srgbClr val="EDE8F9"/>
          </a:solidFill>
          <a:ln w="6350">
            <a:solidFill>
              <a:srgbClr val="5D35B1"/>
            </a:solidFill>
            <a:prstDash val="solid"/>
          </a:ln>
        </p:spPr>
      </p:sp>
      <p:sp>
        <p:nvSpPr>
          <p:cNvPr id="124" name="Text 112"/>
          <p:cNvSpPr/>
          <p:nvPr/>
        </p:nvSpPr>
        <p:spPr>
          <a:xfrm>
            <a:off x="6245352" y="4187952"/>
            <a:ext cx="3840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⚙️</a:t>
            </a:r>
            <a:endParaRPr lang="en-US" sz="1300" dirty="0"/>
          </a:p>
        </p:txBody>
      </p:sp>
      <p:sp>
        <p:nvSpPr>
          <p:cNvPr id="125" name="Shape 113"/>
          <p:cNvSpPr/>
          <p:nvPr/>
        </p:nvSpPr>
        <p:spPr>
          <a:xfrm>
            <a:off x="3703320" y="1463040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26" name="Shape 114"/>
          <p:cNvSpPr/>
          <p:nvPr/>
        </p:nvSpPr>
        <p:spPr>
          <a:xfrm>
            <a:off x="3703320" y="2871216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27" name="Shape 115"/>
          <p:cNvSpPr/>
          <p:nvPr/>
        </p:nvSpPr>
        <p:spPr>
          <a:xfrm>
            <a:off x="3703320" y="3913632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28" name="Shape 116"/>
          <p:cNvSpPr/>
          <p:nvPr/>
        </p:nvSpPr>
        <p:spPr>
          <a:xfrm>
            <a:off x="6025896" y="1371600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29" name="Shape 117"/>
          <p:cNvSpPr/>
          <p:nvPr/>
        </p:nvSpPr>
        <p:spPr>
          <a:xfrm>
            <a:off x="6025896" y="2084832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30" name="Shape 118"/>
          <p:cNvSpPr/>
          <p:nvPr/>
        </p:nvSpPr>
        <p:spPr>
          <a:xfrm>
            <a:off x="6025896" y="2798064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31" name="Shape 119"/>
          <p:cNvSpPr/>
          <p:nvPr/>
        </p:nvSpPr>
        <p:spPr>
          <a:xfrm>
            <a:off x="6025896" y="3511296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32" name="Shape 120"/>
          <p:cNvSpPr/>
          <p:nvPr/>
        </p:nvSpPr>
        <p:spPr>
          <a:xfrm>
            <a:off x="6025896" y="4224528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33" name="Shape 121"/>
          <p:cNvSpPr/>
          <p:nvPr/>
        </p:nvSpPr>
        <p:spPr>
          <a:xfrm>
            <a:off x="2212848" y="4754880"/>
            <a:ext cx="6025896" cy="91440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sp>
        <p:nvSpPr>
          <p:cNvPr id="134" name="Text 122"/>
          <p:cNvSpPr/>
          <p:nvPr/>
        </p:nvSpPr>
        <p:spPr>
          <a:xfrm>
            <a:off x="2212848" y="4791456"/>
            <a:ext cx="60258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Unified, Open and Scalable Lakehouse</a:t>
            </a:r>
            <a:endParaRPr lang="en-US" sz="900" dirty="0"/>
          </a:p>
        </p:txBody>
      </p:sp>
      <p:sp>
        <p:nvSpPr>
          <p:cNvPr id="135" name="Shape 123"/>
          <p:cNvSpPr/>
          <p:nvPr/>
        </p:nvSpPr>
        <p:spPr>
          <a:xfrm>
            <a:off x="2304288" y="5029200"/>
            <a:ext cx="2848356" cy="566928"/>
          </a:xfrm>
          <a:prstGeom prst="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6" name="Text 124"/>
          <p:cNvSpPr/>
          <p:nvPr/>
        </p:nvSpPr>
        <p:spPr>
          <a:xfrm>
            <a:off x="2322576" y="5029200"/>
            <a:ext cx="28117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1A1A1A"/>
                </a:solidFill>
              </a:rPr>
              <a:t>Governance, Security, Observability, Interoperability, Sharing</a:t>
            </a:r>
            <a:endParaRPr lang="en-US" sz="550" dirty="0"/>
          </a:p>
        </p:txBody>
      </p:sp>
      <p:pic>
        <p:nvPicPr>
          <p:cNvPr id="137" name="Image 1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16986" y="5212080"/>
            <a:ext cx="201168" cy="201168"/>
          </a:xfrm>
          <a:prstGeom prst="rect">
            <a:avLst/>
          </a:prstGeom>
        </p:spPr>
      </p:pic>
      <p:sp>
        <p:nvSpPr>
          <p:cNvPr id="138" name="Text 125"/>
          <p:cNvSpPr/>
          <p:nvPr/>
        </p:nvSpPr>
        <p:spPr>
          <a:xfrm>
            <a:off x="3554730" y="5193792"/>
            <a:ext cx="24643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35B1"/>
                </a:solidFill>
              </a:rPr>
              <a:t>Unity Catalog</a:t>
            </a:r>
            <a:endParaRPr lang="en-US" sz="1000" dirty="0"/>
          </a:p>
        </p:txBody>
      </p:sp>
      <p:sp>
        <p:nvSpPr>
          <p:cNvPr id="139" name="Shape 126"/>
          <p:cNvSpPr/>
          <p:nvPr/>
        </p:nvSpPr>
        <p:spPr>
          <a:xfrm>
            <a:off x="5298948" y="5029200"/>
            <a:ext cx="2848356" cy="566928"/>
          </a:xfrm>
          <a:prstGeom prst="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0" name="Text 127"/>
          <p:cNvSpPr/>
          <p:nvPr/>
        </p:nvSpPr>
        <p:spPr>
          <a:xfrm>
            <a:off x="5317236" y="5029200"/>
            <a:ext cx="28117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1A1A1A"/>
                </a:solidFill>
              </a:rPr>
              <a:t>Universal, Open Storage</a:t>
            </a:r>
            <a:endParaRPr lang="en-US" sz="550" dirty="0"/>
          </a:p>
        </p:txBody>
      </p:sp>
      <p:sp>
        <p:nvSpPr>
          <p:cNvPr id="141" name="Shape 128"/>
          <p:cNvSpPr/>
          <p:nvPr/>
        </p:nvSpPr>
        <p:spPr>
          <a:xfrm>
            <a:off x="5390388" y="5230368"/>
            <a:ext cx="1170432" cy="274320"/>
          </a:xfrm>
          <a:prstGeom prst="rect">
            <a:avLst>
              <a:gd name="adj" fmla="val 26667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142" name="Text 129"/>
          <p:cNvSpPr/>
          <p:nvPr/>
        </p:nvSpPr>
        <p:spPr>
          <a:xfrm>
            <a:off x="5390388" y="5230368"/>
            <a:ext cx="1170432" cy="2743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Delta Lake</a:t>
            </a:r>
            <a:endParaRPr lang="en-US" sz="800" dirty="0"/>
          </a:p>
        </p:txBody>
      </p:sp>
      <p:sp>
        <p:nvSpPr>
          <p:cNvPr id="143" name="Shape 130"/>
          <p:cNvSpPr/>
          <p:nvPr/>
        </p:nvSpPr>
        <p:spPr>
          <a:xfrm>
            <a:off x="6688836" y="5230368"/>
            <a:ext cx="1170432" cy="274320"/>
          </a:xfrm>
          <a:prstGeom prst="rect">
            <a:avLst>
              <a:gd name="adj" fmla="val 26667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144" name="Text 131"/>
          <p:cNvSpPr/>
          <p:nvPr/>
        </p:nvSpPr>
        <p:spPr>
          <a:xfrm>
            <a:off x="6688836" y="5230368"/>
            <a:ext cx="1170432" cy="2743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Parquet</a:t>
            </a:r>
            <a:endParaRPr lang="en-US" sz="800" dirty="0"/>
          </a:p>
        </p:txBody>
      </p:sp>
      <p:sp>
        <p:nvSpPr>
          <p:cNvPr id="145" name="Shape 132"/>
          <p:cNvSpPr/>
          <p:nvPr/>
        </p:nvSpPr>
        <p:spPr>
          <a:xfrm>
            <a:off x="7987284" y="5230368"/>
            <a:ext cx="1170432" cy="274320"/>
          </a:xfrm>
          <a:prstGeom prst="rect">
            <a:avLst>
              <a:gd name="adj" fmla="val 26667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146" name="Text 133"/>
          <p:cNvSpPr/>
          <p:nvPr/>
        </p:nvSpPr>
        <p:spPr>
          <a:xfrm>
            <a:off x="7987284" y="5230368"/>
            <a:ext cx="1170432" cy="2743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Iceberg</a:t>
            </a:r>
            <a:endParaRPr lang="en-US" sz="800" dirty="0"/>
          </a:p>
        </p:txBody>
      </p:sp>
      <p:sp>
        <p:nvSpPr>
          <p:cNvPr id="147" name="Shape 134"/>
          <p:cNvSpPr/>
          <p:nvPr/>
        </p:nvSpPr>
        <p:spPr>
          <a:xfrm>
            <a:off x="8284464" y="1371600"/>
            <a:ext cx="137160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48" name="Shape 135"/>
          <p:cNvSpPr/>
          <p:nvPr/>
        </p:nvSpPr>
        <p:spPr>
          <a:xfrm>
            <a:off x="8421624" y="1161288"/>
            <a:ext cx="3557016" cy="420624"/>
          </a:xfrm>
          <a:prstGeom prst="rect">
            <a:avLst>
              <a:gd name="adj" fmla="val 8696"/>
            </a:avLst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49" name="Text 136"/>
          <p:cNvSpPr/>
          <p:nvPr/>
        </p:nvSpPr>
        <p:spPr>
          <a:xfrm>
            <a:off x="8494776" y="1161288"/>
            <a:ext cx="34655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Use Case 1</a:t>
            </a:r>
            <a:endParaRPr lang="en-US" sz="650" dirty="0"/>
          </a:p>
        </p:txBody>
      </p:sp>
      <p:sp>
        <p:nvSpPr>
          <p:cNvPr id="150" name="Shape 137"/>
          <p:cNvSpPr/>
          <p:nvPr/>
        </p:nvSpPr>
        <p:spPr>
          <a:xfrm>
            <a:off x="8284464" y="2084832"/>
            <a:ext cx="137160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51" name="Shape 138"/>
          <p:cNvSpPr/>
          <p:nvPr/>
        </p:nvSpPr>
        <p:spPr>
          <a:xfrm>
            <a:off x="8421624" y="1874520"/>
            <a:ext cx="3557016" cy="420624"/>
          </a:xfrm>
          <a:prstGeom prst="rect">
            <a:avLst>
              <a:gd name="adj" fmla="val 8696"/>
            </a:avLst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52" name="Text 139"/>
          <p:cNvSpPr/>
          <p:nvPr/>
        </p:nvSpPr>
        <p:spPr>
          <a:xfrm>
            <a:off x="8494776" y="1874520"/>
            <a:ext cx="34655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Use Case 2</a:t>
            </a:r>
            <a:endParaRPr lang="en-US" sz="650" dirty="0"/>
          </a:p>
        </p:txBody>
      </p:sp>
      <p:sp>
        <p:nvSpPr>
          <p:cNvPr id="153" name="Shape 140"/>
          <p:cNvSpPr/>
          <p:nvPr/>
        </p:nvSpPr>
        <p:spPr>
          <a:xfrm>
            <a:off x="8284464" y="2798064"/>
            <a:ext cx="137160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54" name="Shape 141"/>
          <p:cNvSpPr/>
          <p:nvPr/>
        </p:nvSpPr>
        <p:spPr>
          <a:xfrm>
            <a:off x="8421624" y="2587752"/>
            <a:ext cx="3557016" cy="420624"/>
          </a:xfrm>
          <a:prstGeom prst="rect">
            <a:avLst>
              <a:gd name="adj" fmla="val 8696"/>
            </a:avLst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55" name="Text 142"/>
          <p:cNvSpPr/>
          <p:nvPr/>
        </p:nvSpPr>
        <p:spPr>
          <a:xfrm>
            <a:off x="8494776" y="2587752"/>
            <a:ext cx="34655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Use Case 3</a:t>
            </a:r>
            <a:endParaRPr lang="en-US" sz="650" dirty="0"/>
          </a:p>
        </p:txBody>
      </p:sp>
      <p:sp>
        <p:nvSpPr>
          <p:cNvPr id="156" name="Shape 143"/>
          <p:cNvSpPr/>
          <p:nvPr/>
        </p:nvSpPr>
        <p:spPr>
          <a:xfrm>
            <a:off x="8284464" y="3511296"/>
            <a:ext cx="137160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57" name="Shape 144"/>
          <p:cNvSpPr/>
          <p:nvPr/>
        </p:nvSpPr>
        <p:spPr>
          <a:xfrm>
            <a:off x="8421624" y="3300984"/>
            <a:ext cx="3557016" cy="420624"/>
          </a:xfrm>
          <a:prstGeom prst="rect">
            <a:avLst>
              <a:gd name="adj" fmla="val 8696"/>
            </a:avLst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58" name="Text 145"/>
          <p:cNvSpPr/>
          <p:nvPr/>
        </p:nvSpPr>
        <p:spPr>
          <a:xfrm>
            <a:off x="8494776" y="3300984"/>
            <a:ext cx="34655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Use Case 4</a:t>
            </a:r>
            <a:endParaRPr lang="en-US" sz="650" dirty="0"/>
          </a:p>
        </p:txBody>
      </p:sp>
      <p:sp>
        <p:nvSpPr>
          <p:cNvPr id="159" name="Shape 146"/>
          <p:cNvSpPr/>
          <p:nvPr/>
        </p:nvSpPr>
        <p:spPr>
          <a:xfrm>
            <a:off x="8284464" y="4224528"/>
            <a:ext cx="137160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60" name="Shape 147"/>
          <p:cNvSpPr/>
          <p:nvPr/>
        </p:nvSpPr>
        <p:spPr>
          <a:xfrm>
            <a:off x="8421624" y="4014216"/>
            <a:ext cx="3557016" cy="420624"/>
          </a:xfrm>
          <a:prstGeom prst="rect">
            <a:avLst>
              <a:gd name="adj" fmla="val 8696"/>
            </a:avLst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61" name="Text 148"/>
          <p:cNvSpPr/>
          <p:nvPr/>
        </p:nvSpPr>
        <p:spPr>
          <a:xfrm>
            <a:off x="8494776" y="4014216"/>
            <a:ext cx="34655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Use Case 5</a:t>
            </a:r>
            <a:endParaRPr lang="en-US" sz="650" dirty="0"/>
          </a:p>
        </p:txBody>
      </p:sp>
      <p:sp>
        <p:nvSpPr>
          <p:cNvPr id="162" name="Text 149"/>
          <p:cNvSpPr/>
          <p:nvPr/>
        </p:nvSpPr>
        <p:spPr>
          <a:xfrm>
            <a:off x="109728" y="658368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88888"/>
                </a:solidFill>
              </a:rPr>
              <a:t>© 2026 Marionete</a:t>
            </a:r>
            <a:endParaRPr lang="en-US" sz="600" dirty="0"/>
          </a:p>
        </p:txBody>
      </p:sp>
      <p:sp>
        <p:nvSpPr>
          <p:cNvPr id="163" name="Text 150"/>
          <p:cNvSpPr/>
          <p:nvPr/>
        </p:nvSpPr>
        <p:spPr>
          <a:xfrm>
            <a:off x="5852160" y="658368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D35B1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2026-03-07T22:22:37Z</dcterms:created>
  <dcterms:modified xsi:type="dcterms:W3CDTF">2026-03-07T22:22:37Z</dcterms:modified>
</cp:coreProperties>
</file>